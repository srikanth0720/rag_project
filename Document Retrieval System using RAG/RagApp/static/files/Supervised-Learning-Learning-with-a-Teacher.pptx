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4" r:id="rId1"/>
  </p:sldMasterIdLst>
  <p:notesMasterIdLst>
    <p:notesMasterId r:id="rId10"/>
  </p:notesMasterIdLst>
  <p:sldIdLst>
    <p:sldId id="256" r:id="rId2"/>
    <p:sldId id="257" r:id="rId3"/>
    <p:sldId id="258" r:id="rId4"/>
    <p:sldId id="259" r:id="rId5"/>
    <p:sldId id="260" r:id="rId6"/>
    <p:sldId id="262" r:id="rId7"/>
    <p:sldId id="263" r:id="rId8"/>
    <p:sldId id="264" r:id="rId9"/>
  </p:sldIdLst>
  <p:sldSz cx="14630400" cy="8229600"/>
  <p:notesSz cx="8229600" cy="14630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792" y="1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4081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10160"/>
            <a:ext cx="14630400" cy="8239760"/>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808481" y="2885441"/>
            <a:ext cx="9320323" cy="1975562"/>
          </a:xfrm>
        </p:spPr>
        <p:txBody>
          <a:bodyPr anchor="b">
            <a:noAutofit/>
          </a:bodyPr>
          <a:lstStyle>
            <a:lvl1pPr algn="r">
              <a:defRPr sz="648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808481" y="4861000"/>
            <a:ext cx="9320323" cy="1316279"/>
          </a:xfrm>
        </p:spPr>
        <p:txBody>
          <a:bodyPr anchor="t"/>
          <a:lstStyle>
            <a:lvl1pPr marL="0" indent="0" algn="r">
              <a:buNone/>
              <a:defRPr>
                <a:solidFill>
                  <a:schemeClr val="tx1">
                    <a:lumMod val="50000"/>
                    <a:lumOff val="50000"/>
                  </a:schemeClr>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923F103-BC34-4FE4-A40E-EDDEECFDA5D0}" type="datetimeFigureOut">
              <a:rPr lang="en-US" smtClean="0"/>
              <a:pPr/>
              <a:t>3/27/2026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857079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32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smtClean="0"/>
              <a:t>3/27/2026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1510192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802" y="3241041"/>
            <a:ext cx="10316002" cy="2191897"/>
          </a:xfrm>
        </p:spPr>
        <p:txBody>
          <a:bodyPr anchor="b"/>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812802" y="5432938"/>
            <a:ext cx="10316002" cy="1032480"/>
          </a:xfrm>
        </p:spPr>
        <p:txBody>
          <a:bodyPr anchor="t"/>
          <a:lstStyle>
            <a:lvl1pPr marL="0" indent="0" algn="l">
              <a:buNone/>
              <a:defRPr sz="2400">
                <a:solidFill>
                  <a:schemeClr val="tx1">
                    <a:lumMod val="50000"/>
                    <a:lumOff val="5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smtClean="0"/>
              <a:t>3/27/2026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2839172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2801" y="2592707"/>
            <a:ext cx="5020842" cy="46569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07964" y="2592707"/>
            <a:ext cx="5020841" cy="4656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smtClean="0"/>
              <a:t>3/27/2026</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1671136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0894" y="2593180"/>
            <a:ext cx="5022748" cy="691514"/>
          </a:xfrm>
        </p:spPr>
        <p:txBody>
          <a:bodyPr anchor="b">
            <a:noAutofit/>
          </a:bodyPr>
          <a:lstStyle>
            <a:lvl1pPr marL="0" indent="0">
              <a:buNone/>
              <a:defRPr sz="288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810894" y="3284695"/>
            <a:ext cx="5022748" cy="396494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06059" y="2593180"/>
            <a:ext cx="5022742" cy="691514"/>
          </a:xfrm>
        </p:spPr>
        <p:txBody>
          <a:bodyPr anchor="b">
            <a:noAutofit/>
          </a:bodyPr>
          <a:lstStyle>
            <a:lvl1pPr marL="0" indent="0">
              <a:buNone/>
              <a:defRPr sz="288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6106062" y="3284695"/>
            <a:ext cx="5022740" cy="396494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smtClean="0"/>
              <a:t>3/27/2026</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5744857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801" y="731520"/>
            <a:ext cx="10316002" cy="158496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smtClean="0"/>
              <a:t>3/27/2026</a:t>
            </a:fld>
            <a:endParaRPr lang="en-US" dirty="0"/>
          </a:p>
        </p:txBody>
      </p:sp>
      <p:sp>
        <p:nvSpPr>
          <p:cNvPr id="4" name="Footer Placeholder 3"/>
          <p:cNvSpPr>
            <a:spLocks noGrp="1"/>
          </p:cNvSpPr>
          <p:nvPr>
            <p:ph type="ftr" sz="quarter" idx="11"/>
          </p:nvPr>
        </p:nvSpPr>
        <p:spPr/>
        <p:txBody>
          <a:bodyPr/>
          <a:lstStyle/>
          <a:p>
            <a:r>
              <a:rPr lang="en-US"/>
              <a:t>
              </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8296212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smtClean="0"/>
              <a:t>3/27/2026</a:t>
            </a:fld>
            <a:endParaRPr lang="en-US" dirty="0"/>
          </a:p>
        </p:txBody>
      </p:sp>
      <p:sp>
        <p:nvSpPr>
          <p:cNvPr id="3" name="Footer Placeholder 2"/>
          <p:cNvSpPr>
            <a:spLocks noGrp="1"/>
          </p:cNvSpPr>
          <p:nvPr>
            <p:ph type="ftr" sz="quarter" idx="11"/>
          </p:nvPr>
        </p:nvSpPr>
        <p:spPr/>
        <p:txBody>
          <a:bodyPr/>
          <a:lstStyle/>
          <a:p>
            <a:r>
              <a:rPr lang="en-US"/>
              <a:t>
              </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115544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1" y="1798325"/>
            <a:ext cx="4625434" cy="1534159"/>
          </a:xfrm>
        </p:spPr>
        <p:txBody>
          <a:bodyPr anchor="b">
            <a:normAutofit/>
          </a:bodyPr>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5712554" y="617910"/>
            <a:ext cx="5416249" cy="66317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2801" y="3332483"/>
            <a:ext cx="4625434" cy="3101339"/>
          </a:xfrm>
        </p:spPr>
        <p:txBody>
          <a:bodyPr>
            <a:normAutofit/>
          </a:bodyPr>
          <a:lstStyle>
            <a:lvl1pPr marL="0" indent="0">
              <a:buNone/>
              <a:defRPr sz="1680"/>
            </a:lvl1pPr>
            <a:lvl2pPr marL="548476" indent="0">
              <a:buNone/>
              <a:defRPr sz="1680"/>
            </a:lvl2pPr>
            <a:lvl3pPr marL="1096951" indent="0">
              <a:buNone/>
              <a:defRPr sz="1440"/>
            </a:lvl3pPr>
            <a:lvl4pPr marL="1645427" indent="0">
              <a:buNone/>
              <a:defRPr sz="1200"/>
            </a:lvl4pPr>
            <a:lvl5pPr marL="2193901" indent="0">
              <a:buNone/>
              <a:defRPr sz="1200"/>
            </a:lvl5pPr>
            <a:lvl6pPr marL="2742377" indent="0">
              <a:buNone/>
              <a:defRPr sz="1200"/>
            </a:lvl6pPr>
            <a:lvl7pPr marL="3290852" indent="0">
              <a:buNone/>
              <a:defRPr sz="1200"/>
            </a:lvl7pPr>
            <a:lvl8pPr marL="3839328" indent="0">
              <a:buNone/>
              <a:defRPr sz="1200"/>
            </a:lvl8pPr>
            <a:lvl9pPr marL="4387804"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smtClean="0"/>
              <a:t>3/27/2026</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7114985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2" y="5760720"/>
            <a:ext cx="10316000" cy="680086"/>
          </a:xfrm>
        </p:spPr>
        <p:txBody>
          <a:bodyPr anchor="b">
            <a:normAutofit/>
          </a:bodyPr>
          <a:lstStyle>
            <a:lvl1pPr algn="l">
              <a:defRPr sz="288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801" y="731520"/>
            <a:ext cx="10316002" cy="4614862"/>
          </a:xfrm>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4" name="Text Placeholder 3"/>
          <p:cNvSpPr>
            <a:spLocks noGrp="1"/>
          </p:cNvSpPr>
          <p:nvPr>
            <p:ph type="body" sz="half" idx="2"/>
          </p:nvPr>
        </p:nvSpPr>
        <p:spPr>
          <a:xfrm>
            <a:off x="812802" y="6440806"/>
            <a:ext cx="10316000" cy="808829"/>
          </a:xfrm>
        </p:spPr>
        <p:txBody>
          <a:bodyPr>
            <a:normAutofit/>
          </a:bodyPr>
          <a:lstStyle>
            <a:lvl1pPr marL="0" indent="0">
              <a:buNone/>
              <a:defRPr sz="144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smtClean="0"/>
              <a:t>3/27/2026</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9934682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2" y="731520"/>
            <a:ext cx="10316002" cy="4084320"/>
          </a:xfrm>
        </p:spPr>
        <p:txBody>
          <a:bodyPr anchor="ctr">
            <a:normAutofit/>
          </a:bodyPr>
          <a:lstStyle>
            <a:lvl1pPr algn="l">
              <a:defRPr sz="5280" b="0" cap="none"/>
            </a:lvl1pPr>
          </a:lstStyle>
          <a:p>
            <a:r>
              <a:rPr lang="en-US"/>
              <a:t>Click to edit Master title style</a:t>
            </a:r>
            <a:endParaRPr lang="en-US" dirty="0"/>
          </a:p>
        </p:txBody>
      </p:sp>
      <p:sp>
        <p:nvSpPr>
          <p:cNvPr id="3" name="Text Placeholder 2"/>
          <p:cNvSpPr>
            <a:spLocks noGrp="1"/>
          </p:cNvSpPr>
          <p:nvPr>
            <p:ph type="body" idx="1"/>
          </p:nvPr>
        </p:nvSpPr>
        <p:spPr>
          <a:xfrm>
            <a:off x="812802" y="5364480"/>
            <a:ext cx="10316002" cy="1885154"/>
          </a:xfrm>
        </p:spPr>
        <p:txBody>
          <a:bodyPr anchor="ctr">
            <a:normAutofit/>
          </a:bodyPr>
          <a:lstStyle>
            <a:lvl1pPr marL="0" indent="0" algn="l">
              <a:buNone/>
              <a:defRPr sz="2160">
                <a:solidFill>
                  <a:schemeClr val="tx1">
                    <a:lumMod val="75000"/>
                    <a:lumOff val="2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E451C3-0FF4-47C4-B829-773ADF60F88C}" type="datetimeFigureOut">
              <a:rPr lang="en-US" smtClean="0"/>
              <a:t>3/27/2026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3696865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7601" y="731520"/>
            <a:ext cx="9712961" cy="3627120"/>
          </a:xfrm>
        </p:spPr>
        <p:txBody>
          <a:bodyPr anchor="ctr">
            <a:normAutofit/>
          </a:bodyPr>
          <a:lstStyle>
            <a:lvl1pPr algn="l">
              <a:defRPr sz="528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639367" y="4358640"/>
            <a:ext cx="8669429" cy="457200"/>
          </a:xfrm>
        </p:spPr>
        <p:txBody>
          <a:bodyPr anchor="ctr">
            <a:noAutofit/>
          </a:bodyPr>
          <a:lstStyle>
            <a:lvl1pPr marL="0" indent="0">
              <a:buFontTx/>
              <a:buNone/>
              <a:defRPr sz="1920">
                <a:solidFill>
                  <a:schemeClr val="tx1">
                    <a:lumMod val="50000"/>
                    <a:lumOff val="50000"/>
                  </a:schemeClr>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Text Placeholder 2"/>
          <p:cNvSpPr>
            <a:spLocks noGrp="1"/>
          </p:cNvSpPr>
          <p:nvPr>
            <p:ph type="body" idx="1"/>
          </p:nvPr>
        </p:nvSpPr>
        <p:spPr>
          <a:xfrm>
            <a:off x="812802" y="5364480"/>
            <a:ext cx="10316002" cy="1885154"/>
          </a:xfrm>
        </p:spPr>
        <p:txBody>
          <a:bodyPr anchor="ctr">
            <a:normAutofit/>
          </a:bodyPr>
          <a:lstStyle>
            <a:lvl1pPr marL="0" indent="0" algn="l">
              <a:buNone/>
              <a:defRPr sz="2160">
                <a:solidFill>
                  <a:schemeClr val="tx1">
                    <a:lumMod val="75000"/>
                    <a:lumOff val="2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E451C3-0FF4-47C4-B829-773ADF60F88C}" type="datetimeFigureOut">
              <a:rPr lang="en-US" smtClean="0"/>
              <a:t>3/27/2026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0" name="TextBox 19"/>
          <p:cNvSpPr txBox="1"/>
          <p:nvPr/>
        </p:nvSpPr>
        <p:spPr>
          <a:xfrm>
            <a:off x="650244" y="948454"/>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10671613" y="3463867"/>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lumMod val="60000"/>
                    <a:lumOff val="40000"/>
                  </a:schemeClr>
                </a:solidFill>
                <a:latin typeface="Arial"/>
              </a:rPr>
              <a:t>”</a:t>
            </a:r>
            <a:endParaRPr lang="en-US" sz="2160" dirty="0">
              <a:solidFill>
                <a:schemeClr val="accent1">
                  <a:lumMod val="60000"/>
                  <a:lumOff val="40000"/>
                </a:schemeClr>
              </a:solidFill>
              <a:latin typeface="Arial"/>
            </a:endParaRPr>
          </a:p>
        </p:txBody>
      </p:sp>
    </p:spTree>
    <p:extLst>
      <p:ext uri="{BB962C8B-B14F-4D97-AF65-F5344CB8AC3E}">
        <p14:creationId xmlns:p14="http://schemas.microsoft.com/office/powerpoint/2010/main" val="340041438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12802" y="2318386"/>
            <a:ext cx="10316002" cy="3114552"/>
          </a:xfrm>
        </p:spPr>
        <p:txBody>
          <a:bodyPr anchor="b">
            <a:normAutofit/>
          </a:bodyPr>
          <a:lstStyle>
            <a:lvl1pPr algn="l">
              <a:defRPr sz="5280" b="0" cap="none"/>
            </a:lvl1pPr>
          </a:lstStyle>
          <a:p>
            <a:r>
              <a:rPr lang="en-US"/>
              <a:t>Click to edit Master title style</a:t>
            </a:r>
            <a:endParaRPr lang="en-US" dirty="0"/>
          </a:p>
        </p:txBody>
      </p:sp>
      <p:sp>
        <p:nvSpPr>
          <p:cNvPr id="3" name="Text Placeholder 2"/>
          <p:cNvSpPr>
            <a:spLocks noGrp="1"/>
          </p:cNvSpPr>
          <p:nvPr>
            <p:ph type="body" idx="1"/>
          </p:nvPr>
        </p:nvSpPr>
        <p:spPr>
          <a:xfrm>
            <a:off x="812802" y="5432938"/>
            <a:ext cx="10316002" cy="1816697"/>
          </a:xfrm>
        </p:spPr>
        <p:txBody>
          <a:bodyPr anchor="t">
            <a:normAutofit/>
          </a:bodyPr>
          <a:lstStyle>
            <a:lvl1pPr marL="0" indent="0" algn="l">
              <a:buNone/>
              <a:defRPr sz="2160">
                <a:solidFill>
                  <a:schemeClr val="tx1">
                    <a:lumMod val="75000"/>
                    <a:lumOff val="2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smtClean="0"/>
              <a:t>3/27/2026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7604453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7601" y="731520"/>
            <a:ext cx="9712961" cy="3627120"/>
          </a:xfrm>
        </p:spPr>
        <p:txBody>
          <a:bodyPr anchor="ctr">
            <a:normAutofit/>
          </a:bodyPr>
          <a:lstStyle>
            <a:lvl1pPr algn="l">
              <a:defRPr sz="528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9" y="4815840"/>
            <a:ext cx="10316003" cy="617098"/>
          </a:xfrm>
        </p:spPr>
        <p:txBody>
          <a:bodyPr anchor="b">
            <a:noAutofit/>
          </a:bodyPr>
          <a:lstStyle>
            <a:lvl1pPr marL="0" indent="0">
              <a:buFontTx/>
              <a:buNone/>
              <a:defRPr sz="2880">
                <a:solidFill>
                  <a:schemeClr val="tx1">
                    <a:lumMod val="75000"/>
                    <a:lumOff val="25000"/>
                  </a:schemeClr>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Text Placeholder 2"/>
          <p:cNvSpPr>
            <a:spLocks noGrp="1"/>
          </p:cNvSpPr>
          <p:nvPr>
            <p:ph type="body" idx="1"/>
          </p:nvPr>
        </p:nvSpPr>
        <p:spPr>
          <a:xfrm>
            <a:off x="812802" y="5432938"/>
            <a:ext cx="10316002" cy="1816697"/>
          </a:xfrm>
        </p:spPr>
        <p:txBody>
          <a:bodyPr anchor="t">
            <a:normAutofit/>
          </a:bodyPr>
          <a:lstStyle>
            <a:lvl1pPr marL="0" indent="0" algn="l">
              <a:buNone/>
              <a:defRPr sz="2160">
                <a:solidFill>
                  <a:schemeClr val="tx1">
                    <a:lumMod val="50000"/>
                    <a:lumOff val="5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E451C3-0FF4-47C4-B829-773ADF60F88C}" type="datetimeFigureOut">
              <a:rPr lang="en-US" smtClean="0"/>
              <a:t>3/27/2026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650244" y="948454"/>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10671613" y="3463867"/>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8915387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822959" y="731520"/>
            <a:ext cx="10305844" cy="3627120"/>
          </a:xfrm>
        </p:spPr>
        <p:txBody>
          <a:bodyPr anchor="ctr">
            <a:normAutofit/>
          </a:bodyPr>
          <a:lstStyle>
            <a:lvl1pPr algn="l">
              <a:defRPr sz="528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9" y="4815840"/>
            <a:ext cx="10316003" cy="617098"/>
          </a:xfrm>
        </p:spPr>
        <p:txBody>
          <a:bodyPr anchor="b">
            <a:noAutofit/>
          </a:bodyPr>
          <a:lstStyle>
            <a:lvl1pPr marL="0" indent="0">
              <a:buFontTx/>
              <a:buNone/>
              <a:defRPr sz="2880">
                <a:solidFill>
                  <a:schemeClr val="accent1"/>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Text Placeholder 2"/>
          <p:cNvSpPr>
            <a:spLocks noGrp="1"/>
          </p:cNvSpPr>
          <p:nvPr>
            <p:ph type="body" idx="1"/>
          </p:nvPr>
        </p:nvSpPr>
        <p:spPr>
          <a:xfrm>
            <a:off x="812802" y="5432938"/>
            <a:ext cx="10316002" cy="1816697"/>
          </a:xfrm>
        </p:spPr>
        <p:txBody>
          <a:bodyPr anchor="t">
            <a:normAutofit/>
          </a:bodyPr>
          <a:lstStyle>
            <a:lvl1pPr marL="0" indent="0" algn="l">
              <a:buNone/>
              <a:defRPr sz="2160">
                <a:solidFill>
                  <a:schemeClr val="tx1">
                    <a:lumMod val="50000"/>
                    <a:lumOff val="5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E451C3-0FF4-47C4-B829-773ADF60F88C}" type="datetimeFigureOut">
              <a:rPr lang="en-US" smtClean="0"/>
              <a:t>3/27/2026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1535922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086D93-FCAC-47E0-A2EE-787E62CA814C}" type="datetimeFigureOut">
              <a:rPr lang="en-US" smtClean="0"/>
              <a:t>3/27/2026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3685296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61208" y="731520"/>
            <a:ext cx="1565692" cy="630174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812802" y="731520"/>
            <a:ext cx="8472180" cy="630174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A879A6-0FD0-4734-A311-86BFCA472E6E}" type="datetimeFigureOut">
              <a:rPr lang="en-US" smtClean="0"/>
              <a:t>3/27/2026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21224540"/>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39500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66187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05947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46347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00251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9373155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13998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7102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10160"/>
            <a:ext cx="14630400" cy="8239760"/>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812801" y="731520"/>
            <a:ext cx="10316002" cy="158496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812801" y="2592707"/>
            <a:ext cx="10316002" cy="46569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46160" y="7249635"/>
            <a:ext cx="1094327" cy="438150"/>
          </a:xfrm>
          <a:prstGeom prst="rect">
            <a:avLst/>
          </a:prstGeom>
        </p:spPr>
        <p:txBody>
          <a:bodyPr vert="horz" lIns="91440" tIns="45720" rIns="91440" bIns="45720" rtlCol="0" anchor="ctr"/>
          <a:lstStyle>
            <a:lvl1pPr algn="r">
              <a:defRPr sz="1080">
                <a:solidFill>
                  <a:schemeClr val="tx1">
                    <a:tint val="75000"/>
                  </a:schemeClr>
                </a:solidFill>
              </a:defRPr>
            </a:lvl1pPr>
          </a:lstStyle>
          <a:p>
            <a:fld id="{2BE451C3-0FF4-47C4-B829-773ADF60F88C}" type="datetimeFigureOut">
              <a:rPr lang="en-US" smtClean="0"/>
              <a:t>3/27/2026</a:t>
            </a:fld>
            <a:endParaRPr lang="en-US" dirty="0"/>
          </a:p>
        </p:txBody>
      </p:sp>
      <p:sp>
        <p:nvSpPr>
          <p:cNvPr id="5" name="Footer Placeholder 4"/>
          <p:cNvSpPr>
            <a:spLocks noGrp="1"/>
          </p:cNvSpPr>
          <p:nvPr>
            <p:ph type="ftr" sz="quarter" idx="3"/>
          </p:nvPr>
        </p:nvSpPr>
        <p:spPr>
          <a:xfrm>
            <a:off x="812801" y="7249635"/>
            <a:ext cx="7557134" cy="438150"/>
          </a:xfrm>
          <a:prstGeom prst="rect">
            <a:avLst/>
          </a:prstGeom>
        </p:spPr>
        <p:txBody>
          <a:bodyPr vert="horz" lIns="91440" tIns="45720" rIns="91440" bIns="45720" rtlCol="0" anchor="ctr"/>
          <a:lstStyle>
            <a:lvl1pPr algn="l">
              <a:defRPr sz="1080">
                <a:solidFill>
                  <a:schemeClr val="tx1">
                    <a:tint val="75000"/>
                  </a:schemeClr>
                </a:solidFill>
              </a:defRPr>
            </a:lvl1pPr>
          </a:lstStyle>
          <a:p>
            <a:r>
              <a:rPr lang="en-US"/>
              <a:t>
              </a:t>
            </a:r>
            <a:endParaRPr lang="en-US" dirty="0"/>
          </a:p>
        </p:txBody>
      </p:sp>
      <p:sp>
        <p:nvSpPr>
          <p:cNvPr id="6" name="Slide Number Placeholder 5"/>
          <p:cNvSpPr>
            <a:spLocks noGrp="1"/>
          </p:cNvSpPr>
          <p:nvPr>
            <p:ph type="sldNum" sz="quarter" idx="4"/>
          </p:nvPr>
        </p:nvSpPr>
        <p:spPr>
          <a:xfrm>
            <a:off x="10308796" y="7249635"/>
            <a:ext cx="820007" cy="438150"/>
          </a:xfrm>
          <a:prstGeom prst="rect">
            <a:avLst/>
          </a:prstGeom>
        </p:spPr>
        <p:txBody>
          <a:bodyPr vert="horz" lIns="91440" tIns="45720" rIns="91440" bIns="45720" rtlCol="0" anchor="ctr"/>
          <a:lstStyle>
            <a:lvl1pPr algn="r">
              <a:defRPr sz="108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4242552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 id="2147483762" r:id="rId18"/>
    <p:sldLayoutId id="2147483763" r:id="rId19"/>
    <p:sldLayoutId id="2147483764" r:id="rId20"/>
    <p:sldLayoutId id="2147483765" r:id="rId21"/>
    <p:sldLayoutId id="2147483767" r:id="rId22"/>
    <p:sldLayoutId id="2147483768" r:id="rId23"/>
    <p:sldLayoutId id="2147483769" r:id="rId24"/>
  </p:sldLayoutIdLst>
  <p:hf sldNum="0" hdr="0" ftr="0" dt="0"/>
  <p:txStyles>
    <p:titleStyle>
      <a:lvl1pPr algn="l" defTabSz="548640" rtl="0" eaLnBrk="1" latinLnBrk="0" hangingPunct="1">
        <a:spcBef>
          <a:spcPct val="0"/>
        </a:spcBef>
        <a:buNone/>
        <a:defRPr sz="432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11480" indent="-411480" algn="l" defTabSz="548640" rtl="0" eaLnBrk="1" latinLnBrk="0" hangingPunct="1">
        <a:spcBef>
          <a:spcPts val="1200"/>
        </a:spcBef>
        <a:spcAft>
          <a:spcPts val="0"/>
        </a:spcAft>
        <a:buClr>
          <a:schemeClr val="accent1"/>
        </a:buClr>
        <a:buSzPct val="80000"/>
        <a:buFont typeface="Wingdings 3" charset="2"/>
        <a:buChar char=""/>
        <a:defRPr sz="2160" kern="1200">
          <a:solidFill>
            <a:schemeClr val="tx1">
              <a:lumMod val="75000"/>
              <a:lumOff val="25000"/>
            </a:schemeClr>
          </a:solidFill>
          <a:latin typeface="+mn-lt"/>
          <a:ea typeface="+mn-ea"/>
          <a:cs typeface="+mn-cs"/>
        </a:defRPr>
      </a:lvl1pPr>
      <a:lvl2pPr marL="891540" indent="-342900" algn="l" defTabSz="548640" rtl="0" eaLnBrk="1" latinLnBrk="0" hangingPunct="1">
        <a:spcBef>
          <a:spcPts val="1200"/>
        </a:spcBef>
        <a:spcAft>
          <a:spcPts val="0"/>
        </a:spcAft>
        <a:buClr>
          <a:schemeClr val="accent1"/>
        </a:buClr>
        <a:buSzPct val="80000"/>
        <a:buFont typeface="Wingdings 3" charset="2"/>
        <a:buChar char=""/>
        <a:defRPr sz="1920" kern="1200">
          <a:solidFill>
            <a:schemeClr val="tx1">
              <a:lumMod val="75000"/>
              <a:lumOff val="25000"/>
            </a:schemeClr>
          </a:solidFill>
          <a:latin typeface="+mn-lt"/>
          <a:ea typeface="+mn-ea"/>
          <a:cs typeface="+mn-cs"/>
        </a:defRPr>
      </a:lvl2pPr>
      <a:lvl3pPr marL="1371600" indent="-274320" algn="l" defTabSz="548640" rtl="0" eaLnBrk="1" latinLnBrk="0" hangingPunct="1">
        <a:spcBef>
          <a:spcPts val="1200"/>
        </a:spcBef>
        <a:spcAft>
          <a:spcPts val="0"/>
        </a:spcAft>
        <a:buClr>
          <a:schemeClr val="accent1"/>
        </a:buClr>
        <a:buSzPct val="80000"/>
        <a:buFont typeface="Wingdings 3" charset="2"/>
        <a:buChar char=""/>
        <a:defRPr sz="1680" kern="1200">
          <a:solidFill>
            <a:schemeClr val="tx1">
              <a:lumMod val="75000"/>
              <a:lumOff val="25000"/>
            </a:schemeClr>
          </a:solidFill>
          <a:latin typeface="+mn-lt"/>
          <a:ea typeface="+mn-ea"/>
          <a:cs typeface="+mn-cs"/>
        </a:defRPr>
      </a:lvl3pPr>
      <a:lvl4pPr marL="192024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4pPr>
      <a:lvl5pPr marL="246888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5pPr>
      <a:lvl6pPr marL="301752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6pPr>
      <a:lvl7pPr marL="356616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7pPr>
      <a:lvl8pPr marL="411480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8pPr>
      <a:lvl9pPr marL="466344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9pPr>
    </p:bodyStyle>
    <p:otherStyle>
      <a:defPPr>
        <a:defRPr lang="en-US"/>
      </a:defPPr>
      <a:lvl1pPr marL="0" algn="l" defTabSz="548640" rtl="0" eaLnBrk="1" latinLnBrk="0" hangingPunct="1">
        <a:defRPr sz="2160" kern="1200">
          <a:solidFill>
            <a:schemeClr val="tx1"/>
          </a:solidFill>
          <a:latin typeface="+mn-lt"/>
          <a:ea typeface="+mn-ea"/>
          <a:cs typeface="+mn-cs"/>
        </a:defRPr>
      </a:lvl1pPr>
      <a:lvl2pPr marL="548640" algn="l" defTabSz="548640" rtl="0" eaLnBrk="1" latinLnBrk="0" hangingPunct="1">
        <a:defRPr sz="2160" kern="1200">
          <a:solidFill>
            <a:schemeClr val="tx1"/>
          </a:solidFill>
          <a:latin typeface="+mn-lt"/>
          <a:ea typeface="+mn-ea"/>
          <a:cs typeface="+mn-cs"/>
        </a:defRPr>
      </a:lvl2pPr>
      <a:lvl3pPr marL="1097280" algn="l" defTabSz="548640" rtl="0" eaLnBrk="1" latinLnBrk="0" hangingPunct="1">
        <a:defRPr sz="2160" kern="1200">
          <a:solidFill>
            <a:schemeClr val="tx1"/>
          </a:solidFill>
          <a:latin typeface="+mn-lt"/>
          <a:ea typeface="+mn-ea"/>
          <a:cs typeface="+mn-cs"/>
        </a:defRPr>
      </a:lvl3pPr>
      <a:lvl4pPr marL="1645920" algn="l" defTabSz="548640" rtl="0" eaLnBrk="1" latinLnBrk="0" hangingPunct="1">
        <a:defRPr sz="2160" kern="1200">
          <a:solidFill>
            <a:schemeClr val="tx1"/>
          </a:solidFill>
          <a:latin typeface="+mn-lt"/>
          <a:ea typeface="+mn-ea"/>
          <a:cs typeface="+mn-cs"/>
        </a:defRPr>
      </a:lvl4pPr>
      <a:lvl5pPr marL="2194560" algn="l" defTabSz="548640" rtl="0" eaLnBrk="1" latinLnBrk="0" hangingPunct="1">
        <a:defRPr sz="2160" kern="1200">
          <a:solidFill>
            <a:schemeClr val="tx1"/>
          </a:solidFill>
          <a:latin typeface="+mn-lt"/>
          <a:ea typeface="+mn-ea"/>
          <a:cs typeface="+mn-cs"/>
        </a:defRPr>
      </a:lvl5pPr>
      <a:lvl6pPr marL="2743200" algn="l" defTabSz="548640" rtl="0" eaLnBrk="1" latinLnBrk="0" hangingPunct="1">
        <a:defRPr sz="2160" kern="1200">
          <a:solidFill>
            <a:schemeClr val="tx1"/>
          </a:solidFill>
          <a:latin typeface="+mn-lt"/>
          <a:ea typeface="+mn-ea"/>
          <a:cs typeface="+mn-cs"/>
        </a:defRPr>
      </a:lvl6pPr>
      <a:lvl7pPr marL="3291840" algn="l" defTabSz="548640" rtl="0" eaLnBrk="1" latinLnBrk="0" hangingPunct="1">
        <a:defRPr sz="2160" kern="1200">
          <a:solidFill>
            <a:schemeClr val="tx1"/>
          </a:solidFill>
          <a:latin typeface="+mn-lt"/>
          <a:ea typeface="+mn-ea"/>
          <a:cs typeface="+mn-cs"/>
        </a:defRPr>
      </a:lvl7pPr>
      <a:lvl8pPr marL="3840480" algn="l" defTabSz="548640" rtl="0" eaLnBrk="1" latinLnBrk="0" hangingPunct="1">
        <a:defRPr sz="2160" kern="1200">
          <a:solidFill>
            <a:schemeClr val="tx1"/>
          </a:solidFill>
          <a:latin typeface="+mn-lt"/>
          <a:ea typeface="+mn-ea"/>
          <a:cs typeface="+mn-cs"/>
        </a:defRPr>
      </a:lvl8pPr>
      <a:lvl9pPr marL="4389120" algn="l" defTabSz="54864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7.xml"/><Relationship Id="rId4" Type="http://schemas.openxmlformats.org/officeDocument/2006/relationships/hyperlink" Target="https://lmw1119.tistory.com/entry/Machine-Learning-Supervised-Learning%EC%A7%80%EB%8F%84-%ED%95%99%EC%8A%B5"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8.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9.xml"/><Relationship Id="rId4" Type="http://schemas.openxmlformats.org/officeDocument/2006/relationships/hyperlink" Target="https://lmw1119.tistory.com/entry/Machine-Learning-Supervised-Learning%EC%A7%80%EB%8F%84-%ED%95%99%EC%8A%B5"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0.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5.xml"/><Relationship Id="rId1" Type="http://schemas.openxmlformats.org/officeDocument/2006/relationships/slideLayout" Target="../slideLayouts/slideLayout21.xml"/><Relationship Id="rId4" Type="http://schemas.openxmlformats.org/officeDocument/2006/relationships/hyperlink" Target="https://peerj.com/articles/cs-488/"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svg"/><Relationship Id="rId2" Type="http://schemas.openxmlformats.org/officeDocument/2006/relationships/notesSlide" Target="../notesSlides/notesSlide7.xml"/><Relationship Id="rId1" Type="http://schemas.openxmlformats.org/officeDocument/2006/relationships/slideLayout" Target="../slideLayouts/slideLayout23.xml"/><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 Id="rId14" Type="http://schemas.openxmlformats.org/officeDocument/2006/relationships/image" Target="../media/image27.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2445671" y="1968402"/>
            <a:ext cx="7627382" cy="760323"/>
          </a:xfrm>
          <a:prstGeom prst="rect">
            <a:avLst/>
          </a:prstGeom>
          <a:noFill/>
          <a:ln/>
        </p:spPr>
        <p:txBody>
          <a:bodyPr wrap="square" lIns="0" tIns="0" rIns="0" bIns="0" rtlCol="0" anchor="t"/>
          <a:lstStyle/>
          <a:p>
            <a:pPr marL="0" indent="0" algn="l">
              <a:lnSpc>
                <a:spcPts val="4900"/>
              </a:lnSpc>
              <a:buNone/>
            </a:pPr>
            <a:r>
              <a:rPr lang="en-US" sz="3900" b="1" dirty="0">
                <a:solidFill>
                  <a:srgbClr val="2E3C4E"/>
                </a:solidFill>
                <a:latin typeface="Barlow Bold" pitchFamily="34" charset="0"/>
                <a:ea typeface="Barlow Bold" pitchFamily="34" charset="-122"/>
                <a:cs typeface="Barlow Bold" pitchFamily="34" charset="-120"/>
              </a:rPr>
              <a:t>Supervised Learning</a:t>
            </a:r>
            <a:endParaRPr lang="en-US" sz="3900" dirty="0"/>
          </a:p>
        </p:txBody>
      </p:sp>
      <p:sp>
        <p:nvSpPr>
          <p:cNvPr id="4" name="Text 1"/>
          <p:cNvSpPr/>
          <p:nvPr/>
        </p:nvSpPr>
        <p:spPr>
          <a:xfrm>
            <a:off x="2339357" y="2577099"/>
            <a:ext cx="7627382" cy="303252"/>
          </a:xfrm>
          <a:prstGeom prst="rect">
            <a:avLst/>
          </a:prstGeom>
          <a:noFill/>
          <a:ln/>
        </p:spPr>
        <p:txBody>
          <a:bodyPr wrap="non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Unlocking the power of artificial intelligence through guided learning</a:t>
            </a:r>
            <a:endParaRPr lang="en-US" sz="1450" dirty="0"/>
          </a:p>
        </p:txBody>
      </p:sp>
      <p:pic>
        <p:nvPicPr>
          <p:cNvPr id="9" name="Picture 8">
            <a:extLst>
              <a:ext uri="{FF2B5EF4-FFF2-40B4-BE49-F238E27FC236}">
                <a16:creationId xmlns:a16="http://schemas.microsoft.com/office/drawing/2014/main" id="{CE659EDF-E589-B8FA-EC1A-FC4EE18DBBBE}"/>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1724629" y="3172542"/>
            <a:ext cx="9421792" cy="401533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58309" y="1201579"/>
            <a:ext cx="6566178" cy="623530"/>
          </a:xfrm>
          <a:prstGeom prst="rect">
            <a:avLst/>
          </a:prstGeom>
          <a:noFill/>
          <a:ln/>
        </p:spPr>
        <p:txBody>
          <a:bodyPr wrap="none" lIns="0" tIns="0" rIns="0" bIns="0" rtlCol="0" anchor="t"/>
          <a:lstStyle/>
          <a:p>
            <a:pPr marL="0" indent="0" algn="l">
              <a:lnSpc>
                <a:spcPts val="4900"/>
              </a:lnSpc>
              <a:buNone/>
            </a:pPr>
            <a:r>
              <a:rPr lang="en-US" sz="3900" b="1" dirty="0">
                <a:solidFill>
                  <a:srgbClr val="2E3C4E"/>
                </a:solidFill>
                <a:latin typeface="Barlow Bold" pitchFamily="34" charset="0"/>
                <a:ea typeface="Barlow Bold" pitchFamily="34" charset="-122"/>
                <a:cs typeface="Barlow Bold" pitchFamily="34" charset="-120"/>
              </a:rPr>
              <a:t>What is Supervised Learning?</a:t>
            </a:r>
            <a:endParaRPr lang="en-US" sz="3900" dirty="0"/>
          </a:p>
        </p:txBody>
      </p:sp>
      <p:sp>
        <p:nvSpPr>
          <p:cNvPr id="3" name="Shape 1"/>
          <p:cNvSpPr/>
          <p:nvPr/>
        </p:nvSpPr>
        <p:spPr>
          <a:xfrm>
            <a:off x="758309" y="2204204"/>
            <a:ext cx="4244816" cy="3397448"/>
          </a:xfrm>
          <a:prstGeom prst="roundRect">
            <a:avLst>
              <a:gd name="adj" fmla="val 8370"/>
            </a:avLst>
          </a:prstGeom>
          <a:solidFill>
            <a:srgbClr val="D4E9F7"/>
          </a:solidFill>
          <a:ln w="7620">
            <a:solidFill>
              <a:srgbClr val="BACFDD"/>
            </a:solidFill>
            <a:prstDash val="solid"/>
          </a:ln>
        </p:spPr>
      </p:sp>
      <p:pic>
        <p:nvPicPr>
          <p:cNvPr id="4" name="Image 0" descr="preencoded.png"/>
          <p:cNvPicPr>
            <a:picLocks noChangeAspect="1"/>
          </p:cNvPicPr>
          <p:nvPr/>
        </p:nvPicPr>
        <p:blipFill>
          <a:blip r:embed="rId3"/>
          <a:stretch>
            <a:fillRect/>
          </a:stretch>
        </p:blipFill>
        <p:spPr>
          <a:xfrm>
            <a:off x="955477" y="2401372"/>
            <a:ext cx="568643" cy="568643"/>
          </a:xfrm>
          <a:prstGeom prst="rect">
            <a:avLst/>
          </a:prstGeom>
        </p:spPr>
      </p:pic>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11806" y="2557701"/>
            <a:ext cx="255865" cy="255865"/>
          </a:xfrm>
          <a:prstGeom prst="rect">
            <a:avLst/>
          </a:prstGeom>
        </p:spPr>
      </p:pic>
      <p:sp>
        <p:nvSpPr>
          <p:cNvPr id="6" name="Text 2"/>
          <p:cNvSpPr/>
          <p:nvPr/>
        </p:nvSpPr>
        <p:spPr>
          <a:xfrm>
            <a:off x="955477" y="3159562"/>
            <a:ext cx="3050738"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Machine Learning Paradigm</a:t>
            </a:r>
            <a:endParaRPr lang="en-US" sz="1950" dirty="0"/>
          </a:p>
        </p:txBody>
      </p:sp>
      <p:sp>
        <p:nvSpPr>
          <p:cNvPr id="7" name="Text 3"/>
          <p:cNvSpPr/>
          <p:nvPr/>
        </p:nvSpPr>
        <p:spPr>
          <a:xfrm>
            <a:off x="955477" y="3584972"/>
            <a:ext cx="3850481" cy="1516261"/>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A supervised learning approach where algorithms learn patterns and relationships from labeled training data, building predictive models that can generalize to new situations.</a:t>
            </a:r>
            <a:endParaRPr lang="en-US" sz="1450" dirty="0"/>
          </a:p>
        </p:txBody>
      </p:sp>
      <p:sp>
        <p:nvSpPr>
          <p:cNvPr id="8" name="Shape 4"/>
          <p:cNvSpPr/>
          <p:nvPr/>
        </p:nvSpPr>
        <p:spPr>
          <a:xfrm>
            <a:off x="5192673" y="2204204"/>
            <a:ext cx="4244935" cy="3397448"/>
          </a:xfrm>
          <a:prstGeom prst="roundRect">
            <a:avLst>
              <a:gd name="adj" fmla="val 8370"/>
            </a:avLst>
          </a:prstGeom>
          <a:solidFill>
            <a:srgbClr val="D4E9F7"/>
          </a:solidFill>
          <a:ln w="7620">
            <a:solidFill>
              <a:srgbClr val="BACFDD"/>
            </a:solidFill>
            <a:prstDash val="solid"/>
          </a:ln>
        </p:spPr>
      </p:sp>
      <p:pic>
        <p:nvPicPr>
          <p:cNvPr id="9" name="Image 2" descr="preencoded.png"/>
          <p:cNvPicPr>
            <a:picLocks noChangeAspect="1"/>
          </p:cNvPicPr>
          <p:nvPr/>
        </p:nvPicPr>
        <p:blipFill>
          <a:blip r:embed="rId6"/>
          <a:stretch>
            <a:fillRect/>
          </a:stretch>
        </p:blipFill>
        <p:spPr>
          <a:xfrm>
            <a:off x="5389840" y="2401372"/>
            <a:ext cx="568643" cy="568643"/>
          </a:xfrm>
          <a:prstGeom prst="rect">
            <a:avLst/>
          </a:prstGeom>
        </p:spPr>
      </p:pic>
      <p:pic>
        <p:nvPicPr>
          <p:cNvPr id="10"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546169" y="2557701"/>
            <a:ext cx="255865" cy="255865"/>
          </a:xfrm>
          <a:prstGeom prst="rect">
            <a:avLst/>
          </a:prstGeom>
        </p:spPr>
      </p:pic>
      <p:sp>
        <p:nvSpPr>
          <p:cNvPr id="11" name="Text 5"/>
          <p:cNvSpPr/>
          <p:nvPr/>
        </p:nvSpPr>
        <p:spPr>
          <a:xfrm>
            <a:off x="5389840" y="3159562"/>
            <a:ext cx="2598182"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Learning with Guidance</a:t>
            </a:r>
            <a:endParaRPr lang="en-US" sz="1950" dirty="0"/>
          </a:p>
        </p:txBody>
      </p:sp>
      <p:sp>
        <p:nvSpPr>
          <p:cNvPr id="12" name="Text 6"/>
          <p:cNvSpPr/>
          <p:nvPr/>
        </p:nvSpPr>
        <p:spPr>
          <a:xfrm>
            <a:off x="5389840" y="3584972"/>
            <a:ext cx="3850600" cy="1819513"/>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Imagine having a knowledgeable teacher who provides the correct answers for every example. The algorithm learns by comparing its predictions to the known correct answers and adjusting accordingly.</a:t>
            </a:r>
            <a:endParaRPr lang="en-US" sz="1450" dirty="0"/>
          </a:p>
        </p:txBody>
      </p:sp>
      <p:sp>
        <p:nvSpPr>
          <p:cNvPr id="13" name="Shape 7"/>
          <p:cNvSpPr/>
          <p:nvPr/>
        </p:nvSpPr>
        <p:spPr>
          <a:xfrm>
            <a:off x="9627156" y="2204204"/>
            <a:ext cx="4244816" cy="3397448"/>
          </a:xfrm>
          <a:prstGeom prst="roundRect">
            <a:avLst>
              <a:gd name="adj" fmla="val 8370"/>
            </a:avLst>
          </a:prstGeom>
          <a:solidFill>
            <a:srgbClr val="D4E9F7"/>
          </a:solidFill>
          <a:ln w="7620">
            <a:solidFill>
              <a:srgbClr val="BACFDD"/>
            </a:solidFill>
            <a:prstDash val="solid"/>
          </a:ln>
        </p:spPr>
      </p:sp>
      <p:pic>
        <p:nvPicPr>
          <p:cNvPr id="14" name="Image 4" descr="preencoded.png"/>
          <p:cNvPicPr>
            <a:picLocks noChangeAspect="1"/>
          </p:cNvPicPr>
          <p:nvPr/>
        </p:nvPicPr>
        <p:blipFill>
          <a:blip r:embed="rId9"/>
          <a:stretch>
            <a:fillRect/>
          </a:stretch>
        </p:blipFill>
        <p:spPr>
          <a:xfrm>
            <a:off x="9824323" y="2401372"/>
            <a:ext cx="568643" cy="568643"/>
          </a:xfrm>
          <a:prstGeom prst="rect">
            <a:avLst/>
          </a:prstGeom>
        </p:spPr>
      </p:pic>
      <p:pic>
        <p:nvPicPr>
          <p:cNvPr id="15" name="Image 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980652" y="2557701"/>
            <a:ext cx="255865" cy="255865"/>
          </a:xfrm>
          <a:prstGeom prst="rect">
            <a:avLst/>
          </a:prstGeom>
        </p:spPr>
      </p:pic>
      <p:sp>
        <p:nvSpPr>
          <p:cNvPr id="16" name="Text 8"/>
          <p:cNvSpPr/>
          <p:nvPr/>
        </p:nvSpPr>
        <p:spPr>
          <a:xfrm>
            <a:off x="9824323" y="3159562"/>
            <a:ext cx="2840712"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Goal: Accurate Prediction</a:t>
            </a:r>
            <a:endParaRPr lang="en-US" sz="1950" dirty="0"/>
          </a:p>
        </p:txBody>
      </p:sp>
      <p:sp>
        <p:nvSpPr>
          <p:cNvPr id="17" name="Text 9"/>
          <p:cNvSpPr/>
          <p:nvPr/>
        </p:nvSpPr>
        <p:spPr>
          <a:xfrm>
            <a:off x="9824323" y="3584972"/>
            <a:ext cx="3850481" cy="1516261"/>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The ultimate objective is to train a model that can accurately predict outputs for new, unseen data—applying what it learned during training to real-world scenarios.</a:t>
            </a:r>
            <a:endParaRPr lang="en-US" sz="1450" dirty="0"/>
          </a:p>
        </p:txBody>
      </p:sp>
      <p:sp>
        <p:nvSpPr>
          <p:cNvPr id="18" name="Text 10"/>
          <p:cNvSpPr/>
          <p:nvPr/>
        </p:nvSpPr>
        <p:spPr>
          <a:xfrm>
            <a:off x="758309" y="5814893"/>
            <a:ext cx="10905867" cy="1589517"/>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Supervised learning represents one of the most fundamental and widely-used approaches in machine learning. It's called "supervised" because the process of an algorithm learning from the training dataset can be thought of as a teacher supervising the learning process. The correct answers (labels) are known, and the algorithm iteratively makes predictions on the training data and is corrected by the teacher (the labeled data). This learning process continues until the algorithm achieves a desired level of performance on the training data.</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088350" y="443865"/>
            <a:ext cx="4651891" cy="493514"/>
          </a:xfrm>
          <a:prstGeom prst="rect">
            <a:avLst/>
          </a:prstGeom>
          <a:noFill/>
          <a:ln/>
        </p:spPr>
        <p:txBody>
          <a:bodyPr wrap="none" lIns="0" tIns="0" rIns="0" bIns="0" rtlCol="0" anchor="t"/>
          <a:lstStyle/>
          <a:p>
            <a:pPr marL="0" indent="0" algn="l">
              <a:lnSpc>
                <a:spcPts val="3850"/>
              </a:lnSpc>
              <a:buNone/>
            </a:pPr>
            <a:r>
              <a:rPr lang="en-US" sz="3100" b="1" dirty="0">
                <a:solidFill>
                  <a:srgbClr val="2E3C4E"/>
                </a:solidFill>
                <a:latin typeface="Barlow Bold" pitchFamily="34" charset="0"/>
                <a:ea typeface="Barlow Bold" pitchFamily="34" charset="-122"/>
                <a:cs typeface="Barlow Bold" pitchFamily="34" charset="-120"/>
              </a:rPr>
              <a:t>The Power of Labeled Data</a:t>
            </a:r>
            <a:endParaRPr lang="en-US" sz="3100" dirty="0"/>
          </a:p>
        </p:txBody>
      </p:sp>
      <p:sp>
        <p:nvSpPr>
          <p:cNvPr id="3" name="Text 1"/>
          <p:cNvSpPr/>
          <p:nvPr/>
        </p:nvSpPr>
        <p:spPr>
          <a:xfrm>
            <a:off x="1088350" y="1222177"/>
            <a:ext cx="7325797" cy="859631"/>
          </a:xfrm>
          <a:prstGeom prst="rect">
            <a:avLst/>
          </a:prstGeom>
          <a:noFill/>
          <a:ln/>
        </p:spPr>
        <p:txBody>
          <a:bodyPr wrap="square" lIns="0" tIns="0" rIns="0" bIns="0" rtlCol="0" anchor="t"/>
          <a:lstStyle/>
          <a:p>
            <a:pPr marL="0" indent="0" algn="l">
              <a:lnSpc>
                <a:spcPts val="1650"/>
              </a:lnSpc>
              <a:buNone/>
            </a:pPr>
            <a:r>
              <a:rPr lang="en-US" sz="1150" dirty="0">
                <a:solidFill>
                  <a:srgbClr val="384653"/>
                </a:solidFill>
                <a:latin typeface="Montserrat" pitchFamily="34" charset="0"/>
                <a:ea typeface="Montserrat" pitchFamily="34" charset="-122"/>
                <a:cs typeface="Montserrat" pitchFamily="34" charset="-120"/>
              </a:rPr>
              <a:t>Labeled data forms the foundation of supervised learning. It consists of input data paired with the corresponding correct output (often called the "ground truth"). This ground truth explicitly teaches the model the relationship between features and labels, enabling it to learn the underlying patterns.</a:t>
            </a:r>
            <a:endParaRPr lang="en-US" sz="1150" dirty="0"/>
          </a:p>
        </p:txBody>
      </p:sp>
      <p:sp>
        <p:nvSpPr>
          <p:cNvPr id="4" name="Text 2"/>
          <p:cNvSpPr/>
          <p:nvPr/>
        </p:nvSpPr>
        <p:spPr>
          <a:xfrm>
            <a:off x="1088350" y="2188607"/>
            <a:ext cx="7325797" cy="644723"/>
          </a:xfrm>
          <a:prstGeom prst="rect">
            <a:avLst/>
          </a:prstGeom>
          <a:noFill/>
          <a:ln/>
        </p:spPr>
        <p:txBody>
          <a:bodyPr wrap="square" lIns="0" tIns="0" rIns="0" bIns="0" rtlCol="0" anchor="t"/>
          <a:lstStyle/>
          <a:p>
            <a:pPr marL="0" indent="0" algn="l">
              <a:lnSpc>
                <a:spcPts val="1650"/>
              </a:lnSpc>
              <a:buNone/>
            </a:pPr>
            <a:r>
              <a:rPr lang="en-US" sz="1150" dirty="0">
                <a:solidFill>
                  <a:srgbClr val="384653"/>
                </a:solidFill>
                <a:latin typeface="Montserrat" pitchFamily="34" charset="0"/>
                <a:ea typeface="Montserrat" pitchFamily="34" charset="-122"/>
                <a:cs typeface="Montserrat" pitchFamily="34" charset="-120"/>
              </a:rPr>
              <a:t>The quality and quantity of labeled data directly determine how well the model will perform. More diverse, accurately labeled examples typically lead to better models that can generalize effectively to new situations.</a:t>
            </a:r>
            <a:endParaRPr lang="en-US" sz="1150" dirty="0"/>
          </a:p>
        </p:txBody>
      </p:sp>
      <p:sp>
        <p:nvSpPr>
          <p:cNvPr id="6" name="Shape 3"/>
          <p:cNvSpPr/>
          <p:nvPr/>
        </p:nvSpPr>
        <p:spPr>
          <a:xfrm>
            <a:off x="1088350" y="6277570"/>
            <a:ext cx="4072057" cy="1508046"/>
          </a:xfrm>
          <a:prstGeom prst="roundRect">
            <a:avLst>
              <a:gd name="adj" fmla="val 14923"/>
            </a:avLst>
          </a:prstGeom>
          <a:solidFill>
            <a:srgbClr val="FFFFFF"/>
          </a:solidFill>
          <a:ln w="15240">
            <a:solidFill>
              <a:srgbClr val="BACFDD"/>
            </a:solidFill>
            <a:prstDash val="solid"/>
          </a:ln>
        </p:spPr>
      </p:sp>
      <p:sp>
        <p:nvSpPr>
          <p:cNvPr id="7" name="Text 4"/>
          <p:cNvSpPr/>
          <p:nvPr/>
        </p:nvSpPr>
        <p:spPr>
          <a:xfrm>
            <a:off x="1253609" y="6442829"/>
            <a:ext cx="1974056" cy="246698"/>
          </a:xfrm>
          <a:prstGeom prst="rect">
            <a:avLst/>
          </a:prstGeom>
          <a:noFill/>
          <a:ln/>
        </p:spPr>
        <p:txBody>
          <a:bodyPr wrap="none" lIns="0" tIns="0" rIns="0" bIns="0" rtlCol="0" anchor="t"/>
          <a:lstStyle/>
          <a:p>
            <a:pPr marL="0" indent="0" algn="l">
              <a:lnSpc>
                <a:spcPts val="1900"/>
              </a:lnSpc>
              <a:buNone/>
            </a:pPr>
            <a:r>
              <a:rPr lang="en-US" sz="1550" b="1" dirty="0">
                <a:solidFill>
                  <a:srgbClr val="384653"/>
                </a:solidFill>
                <a:latin typeface="Barlow Bold" pitchFamily="34" charset="0"/>
                <a:ea typeface="Barlow Bold" pitchFamily="34" charset="-122"/>
                <a:cs typeface="Barlow Bold" pitchFamily="34" charset="-120"/>
              </a:rPr>
              <a:t>What is Labeled Data?</a:t>
            </a:r>
            <a:endParaRPr lang="en-US" sz="1550" dirty="0"/>
          </a:p>
        </p:txBody>
      </p:sp>
      <p:sp>
        <p:nvSpPr>
          <p:cNvPr id="8" name="Text 5"/>
          <p:cNvSpPr/>
          <p:nvPr/>
        </p:nvSpPr>
        <p:spPr>
          <a:xfrm>
            <a:off x="1253609" y="6760726"/>
            <a:ext cx="3741539" cy="859631"/>
          </a:xfrm>
          <a:prstGeom prst="rect">
            <a:avLst/>
          </a:prstGeom>
          <a:noFill/>
          <a:ln/>
        </p:spPr>
        <p:txBody>
          <a:bodyPr wrap="square" lIns="0" tIns="0" rIns="0" bIns="0" rtlCol="0" anchor="t"/>
          <a:lstStyle/>
          <a:p>
            <a:pPr marL="0" indent="0" algn="l">
              <a:lnSpc>
                <a:spcPts val="1650"/>
              </a:lnSpc>
              <a:buNone/>
            </a:pPr>
            <a:r>
              <a:rPr lang="en-US" sz="1150" dirty="0">
                <a:solidFill>
                  <a:srgbClr val="384653"/>
                </a:solidFill>
                <a:latin typeface="Montserrat" pitchFamily="34" charset="0"/>
                <a:ea typeface="Montserrat" pitchFamily="34" charset="-122"/>
                <a:cs typeface="Montserrat" pitchFamily="34" charset="-120"/>
              </a:rPr>
              <a:t>Input data (features) combined with the correct output (label or target). For example, an image of a cat labeled "cat" or a customer's information labeled "will purchase."</a:t>
            </a:r>
            <a:endParaRPr lang="en-US" sz="1150" dirty="0"/>
          </a:p>
        </p:txBody>
      </p:sp>
      <p:sp>
        <p:nvSpPr>
          <p:cNvPr id="9" name="Shape 6"/>
          <p:cNvSpPr/>
          <p:nvPr/>
        </p:nvSpPr>
        <p:spPr>
          <a:xfrm>
            <a:off x="5279112" y="6277570"/>
            <a:ext cx="4072057" cy="1508046"/>
          </a:xfrm>
          <a:prstGeom prst="roundRect">
            <a:avLst>
              <a:gd name="adj" fmla="val 14923"/>
            </a:avLst>
          </a:prstGeom>
          <a:solidFill>
            <a:srgbClr val="FFFFFF"/>
          </a:solidFill>
          <a:ln w="15240">
            <a:solidFill>
              <a:srgbClr val="BACFDD"/>
            </a:solidFill>
            <a:prstDash val="solid"/>
          </a:ln>
        </p:spPr>
      </p:sp>
      <p:sp>
        <p:nvSpPr>
          <p:cNvPr id="10" name="Text 7"/>
          <p:cNvSpPr/>
          <p:nvPr/>
        </p:nvSpPr>
        <p:spPr>
          <a:xfrm>
            <a:off x="5444371" y="6442829"/>
            <a:ext cx="2643902" cy="246698"/>
          </a:xfrm>
          <a:prstGeom prst="rect">
            <a:avLst/>
          </a:prstGeom>
          <a:noFill/>
          <a:ln/>
        </p:spPr>
        <p:txBody>
          <a:bodyPr wrap="none" lIns="0" tIns="0" rIns="0" bIns="0" rtlCol="0" anchor="t"/>
          <a:lstStyle/>
          <a:p>
            <a:pPr marL="0" indent="0" algn="l">
              <a:lnSpc>
                <a:spcPts val="1900"/>
              </a:lnSpc>
              <a:buNone/>
            </a:pPr>
            <a:r>
              <a:rPr lang="en-US" sz="1550" b="1" dirty="0">
                <a:solidFill>
                  <a:srgbClr val="384653"/>
                </a:solidFill>
                <a:latin typeface="Barlow Bold" pitchFamily="34" charset="0"/>
                <a:ea typeface="Barlow Bold" pitchFamily="34" charset="-122"/>
                <a:cs typeface="Barlow Bold" pitchFamily="34" charset="-120"/>
              </a:rPr>
              <a:t>Example: Image Classification</a:t>
            </a:r>
            <a:endParaRPr lang="en-US" sz="1550" dirty="0"/>
          </a:p>
        </p:txBody>
      </p:sp>
      <p:sp>
        <p:nvSpPr>
          <p:cNvPr id="11" name="Text 8"/>
          <p:cNvSpPr/>
          <p:nvPr/>
        </p:nvSpPr>
        <p:spPr>
          <a:xfrm>
            <a:off x="5444371" y="6760726"/>
            <a:ext cx="3741539" cy="644723"/>
          </a:xfrm>
          <a:prstGeom prst="rect">
            <a:avLst/>
          </a:prstGeom>
          <a:noFill/>
          <a:ln/>
        </p:spPr>
        <p:txBody>
          <a:bodyPr wrap="square" lIns="0" tIns="0" rIns="0" bIns="0" rtlCol="0" anchor="t"/>
          <a:lstStyle/>
          <a:p>
            <a:pPr marL="0" indent="0" algn="l">
              <a:lnSpc>
                <a:spcPts val="1650"/>
              </a:lnSpc>
              <a:buNone/>
            </a:pPr>
            <a:r>
              <a:rPr lang="en-US" sz="1150" dirty="0">
                <a:solidFill>
                  <a:srgbClr val="384653"/>
                </a:solidFill>
                <a:latin typeface="Montserrat" pitchFamily="34" charset="0"/>
                <a:ea typeface="Montserrat" pitchFamily="34" charset="-122"/>
                <a:cs typeface="Montserrat" pitchFamily="34" charset="-120"/>
              </a:rPr>
              <a:t>Thousands of images, each labeled as "cat," "dog," or "bird." The model learns to recognize visual patterns associated with each category.</a:t>
            </a:r>
            <a:endParaRPr lang="en-US" sz="1150" dirty="0"/>
          </a:p>
        </p:txBody>
      </p:sp>
      <p:sp>
        <p:nvSpPr>
          <p:cNvPr id="14" name="Text 11"/>
          <p:cNvSpPr/>
          <p:nvPr/>
        </p:nvSpPr>
        <p:spPr>
          <a:xfrm>
            <a:off x="9635133" y="6760726"/>
            <a:ext cx="3741539" cy="644723"/>
          </a:xfrm>
          <a:prstGeom prst="rect">
            <a:avLst/>
          </a:prstGeom>
          <a:noFill/>
          <a:ln/>
        </p:spPr>
        <p:txBody>
          <a:bodyPr wrap="square" lIns="0" tIns="0" rIns="0" bIns="0" rtlCol="0" anchor="t"/>
          <a:lstStyle/>
          <a:p>
            <a:pPr marL="0" indent="0" algn="l">
              <a:lnSpc>
                <a:spcPts val="1650"/>
              </a:lnSpc>
              <a:buNone/>
            </a:pPr>
            <a:endParaRPr lang="en-US" sz="1150" dirty="0"/>
          </a:p>
        </p:txBody>
      </p:sp>
      <p:pic>
        <p:nvPicPr>
          <p:cNvPr id="19" name="Picture 18">
            <a:extLst>
              <a:ext uri="{FF2B5EF4-FFF2-40B4-BE49-F238E27FC236}">
                <a16:creationId xmlns:a16="http://schemas.microsoft.com/office/drawing/2014/main" id="{5A13ACC1-A1DA-29F0-1159-A79A94D1677B}"/>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3227665" y="3126274"/>
            <a:ext cx="4926452" cy="277112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58309" y="1102519"/>
            <a:ext cx="7938611" cy="623530"/>
          </a:xfrm>
          <a:prstGeom prst="rect">
            <a:avLst/>
          </a:prstGeom>
          <a:noFill/>
          <a:ln/>
        </p:spPr>
        <p:txBody>
          <a:bodyPr wrap="none" lIns="0" tIns="0" rIns="0" bIns="0" rtlCol="0" anchor="t"/>
          <a:lstStyle/>
          <a:p>
            <a:pPr marL="0" indent="0" algn="l">
              <a:lnSpc>
                <a:spcPts val="4900"/>
              </a:lnSpc>
              <a:buNone/>
            </a:pPr>
            <a:r>
              <a:rPr lang="en-US" sz="3900" b="1" dirty="0">
                <a:solidFill>
                  <a:srgbClr val="2E3C4E"/>
                </a:solidFill>
                <a:latin typeface="Barlow Bold" pitchFamily="34" charset="0"/>
                <a:ea typeface="Barlow Bold" pitchFamily="34" charset="-122"/>
                <a:cs typeface="Barlow Bold" pitchFamily="34" charset="-120"/>
              </a:rPr>
              <a:t>How it Works: The Learning Process</a:t>
            </a:r>
            <a:endParaRPr lang="en-US" sz="3900" dirty="0"/>
          </a:p>
        </p:txBody>
      </p:sp>
      <p:sp>
        <p:nvSpPr>
          <p:cNvPr id="3" name="Text 1"/>
          <p:cNvSpPr/>
          <p:nvPr/>
        </p:nvSpPr>
        <p:spPr>
          <a:xfrm>
            <a:off x="758309" y="2105144"/>
            <a:ext cx="11195798"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Supervised learning follows a systematic process that transforms raw data into a functioning predictive model. Understanding each stage helps us build better machine learning systems.</a:t>
            </a:r>
            <a:endParaRPr lang="en-US" sz="1450" dirty="0"/>
          </a:p>
        </p:txBody>
      </p:sp>
      <p:pic>
        <p:nvPicPr>
          <p:cNvPr id="4" name="Image 0" descr="preencoded.png"/>
          <p:cNvPicPr>
            <a:picLocks noChangeAspect="1"/>
          </p:cNvPicPr>
          <p:nvPr/>
        </p:nvPicPr>
        <p:blipFill>
          <a:blip r:embed="rId3"/>
          <a:stretch>
            <a:fillRect/>
          </a:stretch>
        </p:blipFill>
        <p:spPr>
          <a:xfrm>
            <a:off x="758309" y="2924889"/>
            <a:ext cx="4371261" cy="758309"/>
          </a:xfrm>
          <a:prstGeom prst="rect">
            <a:avLst/>
          </a:prstGeom>
        </p:spPr>
      </p:pic>
      <p:sp>
        <p:nvSpPr>
          <p:cNvPr id="5" name="Text 2"/>
          <p:cNvSpPr/>
          <p:nvPr/>
        </p:nvSpPr>
        <p:spPr>
          <a:xfrm>
            <a:off x="947857" y="3872746"/>
            <a:ext cx="2494359"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Algorithm Choice</a:t>
            </a:r>
            <a:endParaRPr lang="en-US" sz="1950" dirty="0"/>
          </a:p>
        </p:txBody>
      </p:sp>
      <p:sp>
        <p:nvSpPr>
          <p:cNvPr id="6" name="Text 3"/>
          <p:cNvSpPr/>
          <p:nvPr/>
        </p:nvSpPr>
        <p:spPr>
          <a:xfrm>
            <a:off x="947857" y="4298156"/>
            <a:ext cx="3992166" cy="909757"/>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Selecting the right algorithm for the task at hand. Different algorithms work better for different types of data and problems.</a:t>
            </a:r>
            <a:endParaRPr lang="en-US" sz="1450" dirty="0"/>
          </a:p>
        </p:txBody>
      </p:sp>
      <p:pic>
        <p:nvPicPr>
          <p:cNvPr id="7" name="Image 1" descr="preencoded.png"/>
          <p:cNvPicPr>
            <a:picLocks noChangeAspect="1"/>
          </p:cNvPicPr>
          <p:nvPr/>
        </p:nvPicPr>
        <p:blipFill>
          <a:blip r:embed="rId4"/>
          <a:stretch>
            <a:fillRect/>
          </a:stretch>
        </p:blipFill>
        <p:spPr>
          <a:xfrm>
            <a:off x="5129570" y="2924889"/>
            <a:ext cx="4371261" cy="758309"/>
          </a:xfrm>
          <a:prstGeom prst="rect">
            <a:avLst/>
          </a:prstGeom>
        </p:spPr>
      </p:pic>
      <p:sp>
        <p:nvSpPr>
          <p:cNvPr id="8" name="Text 4"/>
          <p:cNvSpPr/>
          <p:nvPr/>
        </p:nvSpPr>
        <p:spPr>
          <a:xfrm>
            <a:off x="5319117" y="3872746"/>
            <a:ext cx="2494359"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Model Training</a:t>
            </a:r>
            <a:endParaRPr lang="en-US" sz="1950" dirty="0"/>
          </a:p>
        </p:txBody>
      </p:sp>
      <p:sp>
        <p:nvSpPr>
          <p:cNvPr id="9" name="Text 5"/>
          <p:cNvSpPr/>
          <p:nvPr/>
        </p:nvSpPr>
        <p:spPr>
          <a:xfrm>
            <a:off x="5319117" y="4298156"/>
            <a:ext cx="3992166" cy="1213009"/>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Feeding labeled data to the algorithm, which adjusts its internal parameters to minimize prediction errors through iterative learning.</a:t>
            </a:r>
            <a:endParaRPr lang="en-US" sz="1450" dirty="0"/>
          </a:p>
        </p:txBody>
      </p:sp>
      <p:pic>
        <p:nvPicPr>
          <p:cNvPr id="10" name="Image 2" descr="preencoded.png"/>
          <p:cNvPicPr>
            <a:picLocks noChangeAspect="1"/>
          </p:cNvPicPr>
          <p:nvPr/>
        </p:nvPicPr>
        <p:blipFill>
          <a:blip r:embed="rId5"/>
          <a:stretch>
            <a:fillRect/>
          </a:stretch>
        </p:blipFill>
        <p:spPr>
          <a:xfrm>
            <a:off x="9500830" y="2924889"/>
            <a:ext cx="2683907" cy="758309"/>
          </a:xfrm>
          <a:prstGeom prst="rect">
            <a:avLst/>
          </a:prstGeom>
        </p:spPr>
      </p:pic>
      <p:sp>
        <p:nvSpPr>
          <p:cNvPr id="11" name="Text 6"/>
          <p:cNvSpPr/>
          <p:nvPr/>
        </p:nvSpPr>
        <p:spPr>
          <a:xfrm>
            <a:off x="9690378" y="3872746"/>
            <a:ext cx="2494359"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Generalization</a:t>
            </a:r>
            <a:endParaRPr lang="en-US" sz="1950" dirty="0"/>
          </a:p>
        </p:txBody>
      </p:sp>
      <p:sp>
        <p:nvSpPr>
          <p:cNvPr id="12" name="Text 7"/>
          <p:cNvSpPr/>
          <p:nvPr/>
        </p:nvSpPr>
        <p:spPr>
          <a:xfrm>
            <a:off x="9690378" y="4298156"/>
            <a:ext cx="3992166" cy="1213009"/>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The trained model learns to apply its knowledge to new, unseen data, making accurate predictions on real-world scenarios.</a:t>
            </a:r>
            <a:endParaRPr lang="en-US" sz="1450" dirty="0"/>
          </a:p>
        </p:txBody>
      </p:sp>
      <p:sp>
        <p:nvSpPr>
          <p:cNvPr id="13" name="Text 8"/>
          <p:cNvSpPr/>
          <p:nvPr/>
        </p:nvSpPr>
        <p:spPr>
          <a:xfrm>
            <a:off x="758309" y="5913953"/>
            <a:ext cx="10693993" cy="173578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During training, the algorithm makes predictions on the training data, compares those predictions to the actual known labels, and then adjusts its internal parameters to reduce the difference between predicted and actual values. This process repeats many times, gradually improving the model's accuracy. The key measure is how well the model performs on data it hasn't seen during training—this tests whether it truly learned the underlying patterns rather than just memorizing the training examples.</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393388" y="999053"/>
            <a:ext cx="6380083" cy="469344"/>
          </a:xfrm>
          <a:prstGeom prst="rect">
            <a:avLst/>
          </a:prstGeom>
          <a:noFill/>
          <a:ln/>
        </p:spPr>
        <p:txBody>
          <a:bodyPr wrap="none" lIns="0" tIns="0" rIns="0" bIns="0" rtlCol="0" anchor="t"/>
          <a:lstStyle/>
          <a:p>
            <a:pPr marL="0" indent="0" algn="l">
              <a:lnSpc>
                <a:spcPts val="3650"/>
              </a:lnSpc>
              <a:buNone/>
            </a:pPr>
            <a:r>
              <a:rPr lang="en-US" sz="2950" b="1" dirty="0">
                <a:solidFill>
                  <a:srgbClr val="2E3C4E"/>
                </a:solidFill>
                <a:latin typeface="Barlow Bold" pitchFamily="34" charset="0"/>
                <a:ea typeface="Barlow Bold" pitchFamily="34" charset="-122"/>
                <a:cs typeface="Barlow Bold" pitchFamily="34" charset="-120"/>
              </a:rPr>
              <a:t>Key Challenge: Bias-Variance Tradeoff</a:t>
            </a:r>
            <a:endParaRPr lang="en-US" sz="2950" dirty="0"/>
          </a:p>
        </p:txBody>
      </p:sp>
      <p:sp>
        <p:nvSpPr>
          <p:cNvPr id="3" name="Text 1"/>
          <p:cNvSpPr/>
          <p:nvPr/>
        </p:nvSpPr>
        <p:spPr>
          <a:xfrm>
            <a:off x="1393388" y="1683068"/>
            <a:ext cx="11843504" cy="399812"/>
          </a:xfrm>
          <a:prstGeom prst="rect">
            <a:avLst/>
          </a:prstGeom>
          <a:noFill/>
          <a:ln/>
        </p:spPr>
        <p:txBody>
          <a:bodyPr wrap="square" lIns="0" tIns="0" rIns="0" bIns="0" rtlCol="0" anchor="t"/>
          <a:lstStyle/>
          <a:p>
            <a:pPr marL="0" indent="0" algn="l">
              <a:lnSpc>
                <a:spcPts val="1550"/>
              </a:lnSpc>
              <a:buNone/>
            </a:pPr>
            <a:r>
              <a:rPr lang="en-US" sz="1100" dirty="0">
                <a:solidFill>
                  <a:srgbClr val="384653"/>
                </a:solidFill>
                <a:latin typeface="Montserrat" pitchFamily="34" charset="0"/>
                <a:ea typeface="Montserrat" pitchFamily="34" charset="-122"/>
                <a:cs typeface="Montserrat" pitchFamily="34" charset="-120"/>
              </a:rPr>
              <a:t>One of the most fundamental challenges in supervised learning is finding the right balance between bias and variance. This tradeoff determines how well your model will perform on new data.</a:t>
            </a:r>
            <a:endParaRPr lang="en-US" sz="1100" dirty="0"/>
          </a:p>
        </p:txBody>
      </p:sp>
      <p:sp>
        <p:nvSpPr>
          <p:cNvPr id="4" name="Shape 2"/>
          <p:cNvSpPr/>
          <p:nvPr/>
        </p:nvSpPr>
        <p:spPr>
          <a:xfrm>
            <a:off x="7307461" y="2203609"/>
            <a:ext cx="15240" cy="5026819"/>
          </a:xfrm>
          <a:prstGeom prst="roundRect">
            <a:avLst>
              <a:gd name="adj" fmla="val 1404330"/>
            </a:avLst>
          </a:prstGeom>
          <a:solidFill>
            <a:srgbClr val="BACFDD"/>
          </a:solidFill>
          <a:ln/>
        </p:spPr>
      </p:sp>
      <p:sp>
        <p:nvSpPr>
          <p:cNvPr id="5" name="Shape 3"/>
          <p:cNvSpPr/>
          <p:nvPr/>
        </p:nvSpPr>
        <p:spPr>
          <a:xfrm>
            <a:off x="1378148" y="2203609"/>
            <a:ext cx="5921693" cy="1599128"/>
          </a:xfrm>
          <a:prstGeom prst="roundRect">
            <a:avLst>
              <a:gd name="adj" fmla="val 13384"/>
            </a:avLst>
          </a:prstGeom>
          <a:solidFill>
            <a:srgbClr val="D4E9F7"/>
          </a:solidFill>
          <a:ln w="7620">
            <a:solidFill>
              <a:srgbClr val="BACFDD"/>
            </a:solidFill>
            <a:prstDash val="solid"/>
          </a:ln>
        </p:spPr>
      </p:sp>
      <p:sp>
        <p:nvSpPr>
          <p:cNvPr id="6" name="Text 4"/>
          <p:cNvSpPr/>
          <p:nvPr/>
        </p:nvSpPr>
        <p:spPr>
          <a:xfrm>
            <a:off x="5279946" y="2353866"/>
            <a:ext cx="1877258" cy="234672"/>
          </a:xfrm>
          <a:prstGeom prst="rect">
            <a:avLst/>
          </a:prstGeom>
          <a:noFill/>
          <a:ln/>
        </p:spPr>
        <p:txBody>
          <a:bodyPr wrap="none" lIns="0" tIns="0" rIns="0" bIns="0" rtlCol="0" anchor="t"/>
          <a:lstStyle/>
          <a:p>
            <a:pPr marL="0" indent="0" algn="r">
              <a:lnSpc>
                <a:spcPts val="1800"/>
              </a:lnSpc>
              <a:buNone/>
            </a:pPr>
            <a:r>
              <a:rPr lang="en-US" sz="1450" b="1" dirty="0">
                <a:solidFill>
                  <a:srgbClr val="384653"/>
                </a:solidFill>
                <a:latin typeface="Barlow Bold" pitchFamily="34" charset="0"/>
                <a:ea typeface="Barlow Bold" pitchFamily="34" charset="-122"/>
                <a:cs typeface="Barlow Bold" pitchFamily="34" charset="-120"/>
              </a:rPr>
              <a:t>Understanding Bias</a:t>
            </a:r>
            <a:endParaRPr lang="en-US" sz="1450" dirty="0"/>
          </a:p>
        </p:txBody>
      </p:sp>
      <p:sp>
        <p:nvSpPr>
          <p:cNvPr id="7" name="Text 5"/>
          <p:cNvSpPr/>
          <p:nvPr/>
        </p:nvSpPr>
        <p:spPr>
          <a:xfrm>
            <a:off x="1528405" y="2652951"/>
            <a:ext cx="5628799" cy="999530"/>
          </a:xfrm>
          <a:prstGeom prst="rect">
            <a:avLst/>
          </a:prstGeom>
          <a:noFill/>
          <a:ln/>
        </p:spPr>
        <p:txBody>
          <a:bodyPr wrap="square" lIns="0" tIns="0" rIns="0" bIns="0" rtlCol="0" anchor="t"/>
          <a:lstStyle/>
          <a:p>
            <a:pPr marL="0" indent="0" algn="r">
              <a:lnSpc>
                <a:spcPts val="1550"/>
              </a:lnSpc>
              <a:buNone/>
            </a:pPr>
            <a:r>
              <a:rPr lang="en-US" sz="1100" dirty="0">
                <a:solidFill>
                  <a:srgbClr val="384653"/>
                </a:solidFill>
                <a:latin typeface="Montserrat" pitchFamily="34" charset="0"/>
                <a:ea typeface="Montserrat" pitchFamily="34" charset="-122"/>
                <a:cs typeface="Montserrat" pitchFamily="34" charset="-120"/>
              </a:rPr>
              <a:t>Bias represents systematic errors in prediction—when your model makes consistently wrong predictions. High bias means the model is too simple and doesn't capture important patterns in the data (underfitting). For example, trying to fit a straight line to curved data will always produce biased predictions.</a:t>
            </a:r>
            <a:endParaRPr lang="en-US" sz="1100" dirty="0"/>
          </a:p>
        </p:txBody>
      </p:sp>
      <p:sp>
        <p:nvSpPr>
          <p:cNvPr id="8" name="Shape 6"/>
          <p:cNvSpPr/>
          <p:nvPr/>
        </p:nvSpPr>
        <p:spPr>
          <a:xfrm>
            <a:off x="1378029" y="3989416"/>
            <a:ext cx="5921812" cy="1599128"/>
          </a:xfrm>
          <a:prstGeom prst="rect">
            <a:avLst/>
          </a:prstGeom>
          <a:solidFill>
            <a:srgbClr val="D4E9F7"/>
          </a:solidFill>
          <a:ln w="7620">
            <a:solidFill>
              <a:srgbClr val="BACFDD"/>
            </a:solidFill>
            <a:prstDash val="solid"/>
          </a:ln>
        </p:spPr>
        <p:txBody>
          <a:bodyPr/>
          <a:lstStyle/>
          <a:p>
            <a:endParaRPr lang="en-IN" dirty="0"/>
          </a:p>
        </p:txBody>
      </p:sp>
      <p:sp>
        <p:nvSpPr>
          <p:cNvPr id="9" name="Text 7"/>
          <p:cNvSpPr/>
          <p:nvPr/>
        </p:nvSpPr>
        <p:spPr>
          <a:xfrm>
            <a:off x="5331023" y="4079521"/>
            <a:ext cx="1991678" cy="234672"/>
          </a:xfrm>
          <a:prstGeom prst="rect">
            <a:avLst/>
          </a:prstGeom>
          <a:noFill/>
          <a:ln/>
        </p:spPr>
        <p:txBody>
          <a:bodyPr wrap="none" lIns="0" tIns="0" rIns="0" bIns="0" rtlCol="0" anchor="t"/>
          <a:lstStyle/>
          <a:p>
            <a:pPr marL="0" indent="0" algn="l">
              <a:lnSpc>
                <a:spcPts val="1800"/>
              </a:lnSpc>
              <a:buNone/>
            </a:pPr>
            <a:r>
              <a:rPr lang="en-US" sz="1450" b="1" dirty="0">
                <a:solidFill>
                  <a:srgbClr val="384653"/>
                </a:solidFill>
                <a:latin typeface="Barlow Bold" pitchFamily="34" charset="0"/>
                <a:ea typeface="Barlow Bold" pitchFamily="34" charset="-122"/>
                <a:cs typeface="Barlow Bold" pitchFamily="34" charset="-120"/>
              </a:rPr>
              <a:t>Understanding Variance</a:t>
            </a:r>
            <a:endParaRPr lang="en-US" sz="1450" dirty="0"/>
          </a:p>
        </p:txBody>
      </p:sp>
      <p:sp>
        <p:nvSpPr>
          <p:cNvPr id="10" name="Text 8"/>
          <p:cNvSpPr/>
          <p:nvPr/>
        </p:nvSpPr>
        <p:spPr>
          <a:xfrm>
            <a:off x="1528405" y="4469056"/>
            <a:ext cx="5628918" cy="999530"/>
          </a:xfrm>
          <a:prstGeom prst="rect">
            <a:avLst/>
          </a:prstGeom>
          <a:noFill/>
          <a:ln/>
        </p:spPr>
        <p:txBody>
          <a:bodyPr wrap="square" lIns="0" tIns="0" rIns="0" bIns="0" rtlCol="0" anchor="t"/>
          <a:lstStyle/>
          <a:p>
            <a:pPr marL="0" indent="0" algn="l">
              <a:lnSpc>
                <a:spcPts val="1550"/>
              </a:lnSpc>
              <a:buNone/>
            </a:pPr>
            <a:r>
              <a:rPr lang="en-US" sz="1100" dirty="0">
                <a:solidFill>
                  <a:srgbClr val="384653"/>
                </a:solidFill>
                <a:latin typeface="Montserrat" pitchFamily="34" charset="0"/>
                <a:ea typeface="Montserrat" pitchFamily="34" charset="-122"/>
                <a:cs typeface="Montserrat" pitchFamily="34" charset="-120"/>
              </a:rPr>
              <a:t>Variance measures sensitivity to fluctuations in the training data. High variance means the model is too complex and captures noise along with real patterns (overfitting). Such a model performs excellently on training data but poorly on new data because it learned the noise specific to the training set rather than general patterns.</a:t>
            </a:r>
            <a:endParaRPr lang="en-US" sz="1100" dirty="0"/>
          </a:p>
        </p:txBody>
      </p:sp>
      <p:sp>
        <p:nvSpPr>
          <p:cNvPr id="11" name="Shape 9"/>
          <p:cNvSpPr/>
          <p:nvPr/>
        </p:nvSpPr>
        <p:spPr>
          <a:xfrm>
            <a:off x="1378148" y="5831205"/>
            <a:ext cx="5921693" cy="1399222"/>
          </a:xfrm>
          <a:prstGeom prst="roundRect">
            <a:avLst>
              <a:gd name="adj" fmla="val 15296"/>
            </a:avLst>
          </a:prstGeom>
          <a:solidFill>
            <a:srgbClr val="D4E9F7"/>
          </a:solidFill>
          <a:ln w="7620">
            <a:solidFill>
              <a:srgbClr val="BACFDD"/>
            </a:solidFill>
            <a:prstDash val="solid"/>
          </a:ln>
        </p:spPr>
      </p:sp>
      <p:sp>
        <p:nvSpPr>
          <p:cNvPr id="12" name="Text 10"/>
          <p:cNvSpPr/>
          <p:nvPr/>
        </p:nvSpPr>
        <p:spPr>
          <a:xfrm>
            <a:off x="5235535" y="5981462"/>
            <a:ext cx="1921669" cy="234672"/>
          </a:xfrm>
          <a:prstGeom prst="rect">
            <a:avLst/>
          </a:prstGeom>
          <a:noFill/>
          <a:ln/>
        </p:spPr>
        <p:txBody>
          <a:bodyPr wrap="none" lIns="0" tIns="0" rIns="0" bIns="0" rtlCol="0" anchor="t"/>
          <a:lstStyle/>
          <a:p>
            <a:pPr marL="0" indent="0" algn="r">
              <a:lnSpc>
                <a:spcPts val="1800"/>
              </a:lnSpc>
              <a:buNone/>
            </a:pPr>
            <a:r>
              <a:rPr lang="en-US" sz="1450" b="1" dirty="0">
                <a:solidFill>
                  <a:srgbClr val="384653"/>
                </a:solidFill>
                <a:latin typeface="Barlow Bold" pitchFamily="34" charset="0"/>
                <a:ea typeface="Barlow Bold" pitchFamily="34" charset="-122"/>
                <a:cs typeface="Barlow Bold" pitchFamily="34" charset="-120"/>
              </a:rPr>
              <a:t>Finding the Sweet Spot</a:t>
            </a:r>
            <a:endParaRPr lang="en-US" sz="1450" dirty="0"/>
          </a:p>
        </p:txBody>
      </p:sp>
      <p:sp>
        <p:nvSpPr>
          <p:cNvPr id="13" name="Text 11"/>
          <p:cNvSpPr/>
          <p:nvPr/>
        </p:nvSpPr>
        <p:spPr>
          <a:xfrm>
            <a:off x="1528405" y="6280547"/>
            <a:ext cx="5628799" cy="799624"/>
          </a:xfrm>
          <a:prstGeom prst="rect">
            <a:avLst/>
          </a:prstGeom>
          <a:noFill/>
          <a:ln/>
        </p:spPr>
        <p:txBody>
          <a:bodyPr wrap="square" lIns="0" tIns="0" rIns="0" bIns="0" rtlCol="0" anchor="t"/>
          <a:lstStyle/>
          <a:p>
            <a:pPr marL="0" indent="0" algn="r">
              <a:lnSpc>
                <a:spcPts val="1550"/>
              </a:lnSpc>
              <a:buNone/>
            </a:pPr>
            <a:r>
              <a:rPr lang="en-US" sz="1100" dirty="0">
                <a:solidFill>
                  <a:srgbClr val="384653"/>
                </a:solidFill>
                <a:latin typeface="Montserrat" pitchFamily="34" charset="0"/>
                <a:ea typeface="Montserrat" pitchFamily="34" charset="-122"/>
                <a:cs typeface="Montserrat" pitchFamily="34" charset="-120"/>
              </a:rPr>
              <a:t>The ideal model balances low bias (accurate predictions) with low variance (consistent performance). Techniques like cross-validation, regularization, and proper model selection help find this balance. The goal is a model that captures the true underlying patterns without memorizing noise.</a:t>
            </a:r>
            <a:endParaRPr lang="en-US" sz="1100" dirty="0"/>
          </a:p>
        </p:txBody>
      </p:sp>
      <p:pic>
        <p:nvPicPr>
          <p:cNvPr id="15" name="Picture 14">
            <a:extLst>
              <a:ext uri="{FF2B5EF4-FFF2-40B4-BE49-F238E27FC236}">
                <a16:creationId xmlns:a16="http://schemas.microsoft.com/office/drawing/2014/main" id="{ED7C5697-280E-F176-15D3-38B1C116C571}"/>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7538192" y="3034776"/>
            <a:ext cx="4145129" cy="279796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58309" y="1307187"/>
            <a:ext cx="11086028" cy="623530"/>
          </a:xfrm>
          <a:prstGeom prst="rect">
            <a:avLst/>
          </a:prstGeom>
          <a:noFill/>
          <a:ln/>
        </p:spPr>
        <p:txBody>
          <a:bodyPr wrap="none" lIns="0" tIns="0" rIns="0" bIns="0" rtlCol="0" anchor="t"/>
          <a:lstStyle/>
          <a:p>
            <a:pPr marL="0" indent="0" algn="l">
              <a:lnSpc>
                <a:spcPts val="4900"/>
              </a:lnSpc>
              <a:buNone/>
            </a:pPr>
            <a:r>
              <a:rPr lang="en-US" sz="3900" b="1" dirty="0">
                <a:solidFill>
                  <a:srgbClr val="2E3C4E"/>
                </a:solidFill>
                <a:latin typeface="Barlow Bold" pitchFamily="34" charset="0"/>
                <a:ea typeface="Barlow Bold" pitchFamily="34" charset="-122"/>
                <a:cs typeface="Barlow Bold" pitchFamily="34" charset="-120"/>
              </a:rPr>
              <a:t>Type 2: Regression - Predicting Continuous Values</a:t>
            </a:r>
            <a:endParaRPr lang="en-US" sz="3900" dirty="0"/>
          </a:p>
        </p:txBody>
      </p:sp>
      <p:sp>
        <p:nvSpPr>
          <p:cNvPr id="3" name="Text 1"/>
          <p:cNvSpPr/>
          <p:nvPr/>
        </p:nvSpPr>
        <p:spPr>
          <a:xfrm>
            <a:off x="758309" y="2309813"/>
            <a:ext cx="11238173"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Regression is the other major type of supervised learning, focused on predicting continuous numerical values rather than discrete categories. While classification asks "which category?", regression asks "how much?" or "what value?"</a:t>
            </a:r>
            <a:endParaRPr lang="en-US" sz="1450" dirty="0"/>
          </a:p>
        </p:txBody>
      </p:sp>
      <p:sp>
        <p:nvSpPr>
          <p:cNvPr id="4" name="Shape 2"/>
          <p:cNvSpPr/>
          <p:nvPr/>
        </p:nvSpPr>
        <p:spPr>
          <a:xfrm>
            <a:off x="758309" y="3129558"/>
            <a:ext cx="4244816" cy="2669738"/>
          </a:xfrm>
          <a:prstGeom prst="roundRect">
            <a:avLst>
              <a:gd name="adj" fmla="val 4110"/>
            </a:avLst>
          </a:prstGeom>
          <a:solidFill>
            <a:srgbClr val="FFFFFF"/>
          </a:solidFill>
          <a:ln w="22860">
            <a:solidFill>
              <a:srgbClr val="BACFDD"/>
            </a:solidFill>
            <a:prstDash val="solid"/>
          </a:ln>
        </p:spPr>
      </p:sp>
      <p:pic>
        <p:nvPicPr>
          <p:cNvPr id="5" name="Image 0" descr="preencoded.png"/>
          <p:cNvPicPr>
            <a:picLocks noChangeAspect="1"/>
          </p:cNvPicPr>
          <p:nvPr/>
        </p:nvPicPr>
        <p:blipFill>
          <a:blip r:embed="rId3"/>
          <a:stretch>
            <a:fillRect/>
          </a:stretch>
        </p:blipFill>
        <p:spPr>
          <a:xfrm>
            <a:off x="735449" y="3129558"/>
            <a:ext cx="91440" cy="2669738"/>
          </a:xfrm>
          <a:prstGeom prst="rect">
            <a:avLst/>
          </a:prstGeom>
        </p:spPr>
      </p:pic>
      <p:sp>
        <p:nvSpPr>
          <p:cNvPr id="6" name="Text 3"/>
          <p:cNvSpPr/>
          <p:nvPr/>
        </p:nvSpPr>
        <p:spPr>
          <a:xfrm>
            <a:off x="1039297" y="3341965"/>
            <a:ext cx="2641283"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Predicting House Prices</a:t>
            </a:r>
            <a:endParaRPr lang="en-US" sz="1950" dirty="0"/>
          </a:p>
        </p:txBody>
      </p:sp>
      <p:sp>
        <p:nvSpPr>
          <p:cNvPr id="7" name="Text 4"/>
          <p:cNvSpPr/>
          <p:nvPr/>
        </p:nvSpPr>
        <p:spPr>
          <a:xfrm>
            <a:off x="1039297" y="3767376"/>
            <a:ext cx="3751421" cy="1819513"/>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Estimates property values based on features like square footage, location, number of bedrooms, and neighborhood characteristics. Real estate platforms use regression models to provide instant price estimates.</a:t>
            </a:r>
            <a:endParaRPr lang="en-US" sz="1450" dirty="0"/>
          </a:p>
        </p:txBody>
      </p:sp>
      <p:sp>
        <p:nvSpPr>
          <p:cNvPr id="8" name="Shape 5"/>
          <p:cNvSpPr/>
          <p:nvPr/>
        </p:nvSpPr>
        <p:spPr>
          <a:xfrm>
            <a:off x="5192673" y="3129558"/>
            <a:ext cx="4244935" cy="2669738"/>
          </a:xfrm>
          <a:prstGeom prst="roundRect">
            <a:avLst>
              <a:gd name="adj" fmla="val 4110"/>
            </a:avLst>
          </a:prstGeom>
          <a:solidFill>
            <a:srgbClr val="FFFFFF"/>
          </a:solidFill>
          <a:ln w="22860">
            <a:solidFill>
              <a:srgbClr val="BACFDD"/>
            </a:solidFill>
            <a:prstDash val="solid"/>
          </a:ln>
        </p:spPr>
      </p:sp>
      <p:pic>
        <p:nvPicPr>
          <p:cNvPr id="9" name="Image 1" descr="preencoded.png"/>
          <p:cNvPicPr>
            <a:picLocks noChangeAspect="1"/>
          </p:cNvPicPr>
          <p:nvPr/>
        </p:nvPicPr>
        <p:blipFill>
          <a:blip r:embed="rId3"/>
          <a:stretch>
            <a:fillRect/>
          </a:stretch>
        </p:blipFill>
        <p:spPr>
          <a:xfrm>
            <a:off x="5169813" y="3129558"/>
            <a:ext cx="91440" cy="2669738"/>
          </a:xfrm>
          <a:prstGeom prst="rect">
            <a:avLst/>
          </a:prstGeom>
        </p:spPr>
      </p:pic>
      <p:sp>
        <p:nvSpPr>
          <p:cNvPr id="10" name="Text 6"/>
          <p:cNvSpPr/>
          <p:nvPr/>
        </p:nvSpPr>
        <p:spPr>
          <a:xfrm>
            <a:off x="5473660" y="3341965"/>
            <a:ext cx="2762726"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Forecasting Stock Prices</a:t>
            </a:r>
            <a:endParaRPr lang="en-US" sz="1950" dirty="0"/>
          </a:p>
        </p:txBody>
      </p:sp>
      <p:sp>
        <p:nvSpPr>
          <p:cNvPr id="11" name="Text 7"/>
          <p:cNvSpPr/>
          <p:nvPr/>
        </p:nvSpPr>
        <p:spPr>
          <a:xfrm>
            <a:off x="5473660" y="3767376"/>
            <a:ext cx="3751540" cy="1819513"/>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Predicts future stock values based on historical price movements, trading volume, and market indicators. While never perfect, regression models help investors understand potential price movements.</a:t>
            </a:r>
            <a:endParaRPr lang="en-US" sz="1450" dirty="0"/>
          </a:p>
        </p:txBody>
      </p:sp>
      <p:sp>
        <p:nvSpPr>
          <p:cNvPr id="12" name="Shape 8"/>
          <p:cNvSpPr/>
          <p:nvPr/>
        </p:nvSpPr>
        <p:spPr>
          <a:xfrm>
            <a:off x="9627156" y="3129558"/>
            <a:ext cx="4244816" cy="2669738"/>
          </a:xfrm>
          <a:prstGeom prst="roundRect">
            <a:avLst>
              <a:gd name="adj" fmla="val 4110"/>
            </a:avLst>
          </a:prstGeom>
          <a:solidFill>
            <a:srgbClr val="FFFFFF"/>
          </a:solidFill>
          <a:ln w="22860">
            <a:solidFill>
              <a:srgbClr val="BACFDD"/>
            </a:solidFill>
            <a:prstDash val="solid"/>
          </a:ln>
        </p:spPr>
      </p:sp>
      <p:pic>
        <p:nvPicPr>
          <p:cNvPr id="13" name="Image 2" descr="preencoded.png"/>
          <p:cNvPicPr>
            <a:picLocks noChangeAspect="1"/>
          </p:cNvPicPr>
          <p:nvPr/>
        </p:nvPicPr>
        <p:blipFill>
          <a:blip r:embed="rId3"/>
          <a:stretch>
            <a:fillRect/>
          </a:stretch>
        </p:blipFill>
        <p:spPr>
          <a:xfrm>
            <a:off x="9604296" y="3129558"/>
            <a:ext cx="91440" cy="2669738"/>
          </a:xfrm>
          <a:prstGeom prst="rect">
            <a:avLst/>
          </a:prstGeom>
        </p:spPr>
      </p:pic>
      <p:sp>
        <p:nvSpPr>
          <p:cNvPr id="14" name="Text 9"/>
          <p:cNvSpPr/>
          <p:nvPr/>
        </p:nvSpPr>
        <p:spPr>
          <a:xfrm>
            <a:off x="9908143" y="3341965"/>
            <a:ext cx="2844284"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Estimating Sales Revenue</a:t>
            </a:r>
            <a:endParaRPr lang="en-US" sz="1950" dirty="0"/>
          </a:p>
        </p:txBody>
      </p:sp>
      <p:sp>
        <p:nvSpPr>
          <p:cNvPr id="15" name="Text 10"/>
          <p:cNvSpPr/>
          <p:nvPr/>
        </p:nvSpPr>
        <p:spPr>
          <a:xfrm>
            <a:off x="9908143" y="3767376"/>
            <a:ext cx="3751421" cy="1819513"/>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Projects future sales based on marketing spend, seasonality, economic indicators, and historical performance. Businesses use these predictions for budgeting and planning.</a:t>
            </a:r>
            <a:endParaRPr lang="en-US" sz="1450" dirty="0"/>
          </a:p>
        </p:txBody>
      </p:sp>
      <p:sp>
        <p:nvSpPr>
          <p:cNvPr id="16" name="Text 11"/>
          <p:cNvSpPr/>
          <p:nvPr/>
        </p:nvSpPr>
        <p:spPr>
          <a:xfrm>
            <a:off x="758309" y="6012537"/>
            <a:ext cx="11238173" cy="909757"/>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Regression models output a continuous value rather than a category. The prediction might be a price, temperature, time, distance, or any measurable quantity. The model learns the relationship between input features and the continuous output variable, enabling it to interpolate and extrapolate based on new inputs.</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561862" y="611595"/>
            <a:ext cx="6333201" cy="456009"/>
          </a:xfrm>
          <a:prstGeom prst="rect">
            <a:avLst/>
          </a:prstGeom>
          <a:noFill/>
          <a:ln/>
        </p:spPr>
        <p:txBody>
          <a:bodyPr wrap="none" lIns="0" tIns="0" rIns="0" bIns="0" rtlCol="0" anchor="t"/>
          <a:lstStyle/>
          <a:p>
            <a:pPr marL="0" indent="0" algn="l">
              <a:lnSpc>
                <a:spcPts val="3550"/>
              </a:lnSpc>
              <a:buNone/>
            </a:pPr>
            <a:r>
              <a:rPr lang="en-US" sz="2800" b="1" dirty="0">
                <a:solidFill>
                  <a:srgbClr val="2E3C4E"/>
                </a:solidFill>
                <a:latin typeface="Barlow Bold" pitchFamily="34" charset="0"/>
                <a:ea typeface="Barlow Bold" pitchFamily="34" charset="-122"/>
                <a:cs typeface="Barlow Bold" pitchFamily="34" charset="-120"/>
              </a:rPr>
              <a:t>Real-World Applications: Where We See It</a:t>
            </a:r>
            <a:endParaRPr lang="en-US" sz="2800" dirty="0"/>
          </a:p>
        </p:txBody>
      </p:sp>
      <p:sp>
        <p:nvSpPr>
          <p:cNvPr id="3" name="Text 1"/>
          <p:cNvSpPr/>
          <p:nvPr/>
        </p:nvSpPr>
        <p:spPr>
          <a:xfrm>
            <a:off x="1539214" y="1287245"/>
            <a:ext cx="9656610" cy="767714"/>
          </a:xfrm>
          <a:prstGeom prst="rect">
            <a:avLst/>
          </a:prstGeom>
          <a:noFill/>
          <a:ln/>
        </p:spPr>
        <p:txBody>
          <a:bodyPr wrap="square" lIns="0" tIns="0" rIns="0" bIns="0" rtlCol="0" anchor="t"/>
          <a:lstStyle/>
          <a:p>
            <a:pPr marL="0" indent="0" algn="l">
              <a:lnSpc>
                <a:spcPts val="1500"/>
              </a:lnSpc>
              <a:buNone/>
            </a:pPr>
            <a:r>
              <a:rPr lang="en-US" sz="1400" dirty="0">
                <a:solidFill>
                  <a:srgbClr val="384653"/>
                </a:solidFill>
                <a:latin typeface="Montserrat" pitchFamily="34" charset="0"/>
                <a:ea typeface="Montserrat" pitchFamily="34" charset="-122"/>
                <a:cs typeface="Montserrat" pitchFamily="34" charset="-120"/>
              </a:rPr>
              <a:t>Supervised learning powers countless applications that touch our daily lives, from healthcare to finance to entertainment. These real-world implementations demonstrate the practical value of this fundamental machine learning approach.</a:t>
            </a:r>
            <a:endParaRPr lang="en-US" sz="14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61862" y="2188012"/>
            <a:ext cx="415766" cy="415766"/>
          </a:xfrm>
          <a:prstGeom prst="rect">
            <a:avLst/>
          </a:prstGeom>
        </p:spPr>
      </p:pic>
      <p:sp>
        <p:nvSpPr>
          <p:cNvPr id="5" name="Text 2"/>
          <p:cNvSpPr/>
          <p:nvPr/>
        </p:nvSpPr>
        <p:spPr>
          <a:xfrm>
            <a:off x="1561862" y="2730460"/>
            <a:ext cx="2427684" cy="228005"/>
          </a:xfrm>
          <a:prstGeom prst="rect">
            <a:avLst/>
          </a:prstGeom>
          <a:noFill/>
          <a:ln/>
        </p:spPr>
        <p:txBody>
          <a:bodyPr wrap="none" lIns="0" tIns="0" rIns="0" bIns="0" rtlCol="0" anchor="t"/>
          <a:lstStyle/>
          <a:p>
            <a:pPr marL="0" indent="0" algn="l">
              <a:lnSpc>
                <a:spcPts val="1750"/>
              </a:lnSpc>
              <a:buNone/>
            </a:pPr>
            <a:r>
              <a:rPr lang="en-US" sz="1400" b="1" dirty="0">
                <a:solidFill>
                  <a:srgbClr val="384653"/>
                </a:solidFill>
                <a:latin typeface="Barlow Bold" pitchFamily="34" charset="0"/>
                <a:ea typeface="Barlow Bold" pitchFamily="34" charset="-122"/>
                <a:cs typeface="Barlow Bold" pitchFamily="34" charset="-120"/>
              </a:rPr>
              <a:t>Healthcare: Medical Diagnosis</a:t>
            </a:r>
            <a:endParaRPr lang="en-US" sz="1400" dirty="0"/>
          </a:p>
        </p:txBody>
      </p:sp>
      <p:sp>
        <p:nvSpPr>
          <p:cNvPr id="6" name="Text 3"/>
          <p:cNvSpPr/>
          <p:nvPr/>
        </p:nvSpPr>
        <p:spPr>
          <a:xfrm>
            <a:off x="1561862" y="3019187"/>
            <a:ext cx="5689997" cy="767715"/>
          </a:xfrm>
          <a:prstGeom prst="rect">
            <a:avLst/>
          </a:prstGeom>
          <a:noFill/>
          <a:ln/>
        </p:spPr>
        <p:txBody>
          <a:bodyPr wrap="square" lIns="0" tIns="0" rIns="0" bIns="0" rtlCol="0" anchor="t"/>
          <a:lstStyle/>
          <a:p>
            <a:pPr marL="0" indent="0" algn="l">
              <a:lnSpc>
                <a:spcPts val="1500"/>
              </a:lnSpc>
              <a:buNone/>
            </a:pPr>
            <a:r>
              <a:rPr lang="en-US" sz="1400" dirty="0">
                <a:solidFill>
                  <a:srgbClr val="384653"/>
                </a:solidFill>
                <a:latin typeface="Montserrat" pitchFamily="34" charset="0"/>
                <a:ea typeface="Montserrat" pitchFamily="34" charset="-122"/>
                <a:cs typeface="Montserrat" pitchFamily="34" charset="-120"/>
              </a:rPr>
              <a:t>Diagnosing diseases from medical images with accuracy rivaling human experts. X-rays, MRIs, and CT scans are analyzed to detect tumors, fractures, pneumonia, and other conditions. Machine learning models can identify subtle patterns that even experienced radiologists might miss.</a:t>
            </a:r>
            <a:endParaRPr lang="en-US" sz="1400" dirty="0"/>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78541" y="2188012"/>
            <a:ext cx="415766" cy="415766"/>
          </a:xfrm>
          <a:prstGeom prst="rect">
            <a:avLst/>
          </a:prstGeom>
        </p:spPr>
      </p:pic>
      <p:sp>
        <p:nvSpPr>
          <p:cNvPr id="8" name="Text 4"/>
          <p:cNvSpPr/>
          <p:nvPr/>
        </p:nvSpPr>
        <p:spPr>
          <a:xfrm>
            <a:off x="7378541" y="2730460"/>
            <a:ext cx="2130623" cy="228005"/>
          </a:xfrm>
          <a:prstGeom prst="rect">
            <a:avLst/>
          </a:prstGeom>
          <a:noFill/>
          <a:ln/>
        </p:spPr>
        <p:txBody>
          <a:bodyPr wrap="none" lIns="0" tIns="0" rIns="0" bIns="0" rtlCol="0" anchor="t"/>
          <a:lstStyle/>
          <a:p>
            <a:pPr marL="0" indent="0" algn="l">
              <a:lnSpc>
                <a:spcPts val="1750"/>
              </a:lnSpc>
              <a:buNone/>
            </a:pPr>
            <a:r>
              <a:rPr lang="en-US" sz="1400" b="1" dirty="0">
                <a:solidFill>
                  <a:srgbClr val="384653"/>
                </a:solidFill>
                <a:latin typeface="Barlow Bold" pitchFamily="34" charset="0"/>
                <a:ea typeface="Barlow Bold" pitchFamily="34" charset="-122"/>
                <a:cs typeface="Barlow Bold" pitchFamily="34" charset="-120"/>
              </a:rPr>
              <a:t>Finance: Risk Assessment</a:t>
            </a:r>
            <a:endParaRPr lang="en-US" sz="1400" dirty="0"/>
          </a:p>
        </p:txBody>
      </p:sp>
      <p:sp>
        <p:nvSpPr>
          <p:cNvPr id="9" name="Text 5"/>
          <p:cNvSpPr/>
          <p:nvPr/>
        </p:nvSpPr>
        <p:spPr>
          <a:xfrm>
            <a:off x="7378542" y="3019187"/>
            <a:ext cx="4865498" cy="970359"/>
          </a:xfrm>
          <a:prstGeom prst="rect">
            <a:avLst/>
          </a:prstGeom>
          <a:noFill/>
          <a:ln/>
        </p:spPr>
        <p:txBody>
          <a:bodyPr wrap="square" lIns="0" tIns="0" rIns="0" bIns="0" rtlCol="0" anchor="t"/>
          <a:lstStyle/>
          <a:p>
            <a:pPr marL="0" indent="0" algn="l">
              <a:lnSpc>
                <a:spcPts val="1500"/>
              </a:lnSpc>
              <a:buNone/>
            </a:pPr>
            <a:r>
              <a:rPr lang="en-US" sz="1400" dirty="0">
                <a:solidFill>
                  <a:srgbClr val="384653"/>
                </a:solidFill>
                <a:latin typeface="Montserrat" pitchFamily="34" charset="0"/>
                <a:ea typeface="Montserrat" pitchFamily="34" charset="-122"/>
                <a:cs typeface="Montserrat" pitchFamily="34" charset="-120"/>
              </a:rPr>
              <a:t>Assessing credit risk and predicting loan defaults by analyzing applicant information, credit history, and financial patterns. Banks use these models to make lending decisions, while credit card companies use them to detect fraudulent transactions in real-time.</a:t>
            </a:r>
            <a:endParaRPr lang="en-US" sz="1400" dirty="0"/>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61862" y="3989546"/>
            <a:ext cx="415766" cy="415766"/>
          </a:xfrm>
          <a:prstGeom prst="rect">
            <a:avLst/>
          </a:prstGeom>
        </p:spPr>
      </p:pic>
      <p:sp>
        <p:nvSpPr>
          <p:cNvPr id="11" name="Text 6"/>
          <p:cNvSpPr/>
          <p:nvPr/>
        </p:nvSpPr>
        <p:spPr>
          <a:xfrm>
            <a:off x="1561862" y="4531995"/>
            <a:ext cx="3350300" cy="228005"/>
          </a:xfrm>
          <a:prstGeom prst="rect">
            <a:avLst/>
          </a:prstGeom>
          <a:noFill/>
          <a:ln/>
        </p:spPr>
        <p:txBody>
          <a:bodyPr wrap="none" lIns="0" tIns="0" rIns="0" bIns="0" rtlCol="0" anchor="t"/>
          <a:lstStyle/>
          <a:p>
            <a:pPr marL="0" indent="0" algn="l">
              <a:lnSpc>
                <a:spcPts val="1750"/>
              </a:lnSpc>
              <a:buNone/>
            </a:pPr>
            <a:r>
              <a:rPr lang="en-US" sz="1400" b="1" dirty="0">
                <a:solidFill>
                  <a:srgbClr val="384653"/>
                </a:solidFill>
                <a:latin typeface="Barlow Bold" pitchFamily="34" charset="0"/>
                <a:ea typeface="Barlow Bold" pitchFamily="34" charset="-122"/>
                <a:cs typeface="Barlow Bold" pitchFamily="34" charset="-120"/>
              </a:rPr>
              <a:t>E-commerce: Product Recommendations</a:t>
            </a:r>
            <a:endParaRPr lang="en-US" sz="1400" dirty="0"/>
          </a:p>
        </p:txBody>
      </p:sp>
      <p:sp>
        <p:nvSpPr>
          <p:cNvPr id="12" name="Text 7"/>
          <p:cNvSpPr/>
          <p:nvPr/>
        </p:nvSpPr>
        <p:spPr>
          <a:xfrm>
            <a:off x="1561862" y="4820722"/>
            <a:ext cx="5689997" cy="575786"/>
          </a:xfrm>
          <a:prstGeom prst="rect">
            <a:avLst/>
          </a:prstGeom>
          <a:noFill/>
          <a:ln/>
        </p:spPr>
        <p:txBody>
          <a:bodyPr wrap="square" lIns="0" tIns="0" rIns="0" bIns="0" rtlCol="0" anchor="t"/>
          <a:lstStyle/>
          <a:p>
            <a:pPr marL="0" indent="0" algn="l">
              <a:lnSpc>
                <a:spcPts val="1500"/>
              </a:lnSpc>
              <a:buNone/>
            </a:pPr>
            <a:r>
              <a:rPr lang="en-US" sz="1400" dirty="0">
                <a:solidFill>
                  <a:srgbClr val="384653"/>
                </a:solidFill>
                <a:latin typeface="Montserrat" pitchFamily="34" charset="0"/>
                <a:ea typeface="Montserrat" pitchFamily="34" charset="-122"/>
                <a:cs typeface="Montserrat" pitchFamily="34" charset="-120"/>
              </a:rPr>
              <a:t>Recommending products based on user behavior, purchase history, and similar customers. Analyzing customer sentiment from reviews and social media to understand product reception and identify issues before they escalate.</a:t>
            </a:r>
            <a:endParaRPr lang="en-US" sz="1400" dirty="0"/>
          </a:p>
        </p:txBody>
      </p:sp>
      <p:pic>
        <p:nvPicPr>
          <p:cNvPr id="13"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378541" y="3989546"/>
            <a:ext cx="415766" cy="415766"/>
          </a:xfrm>
          <a:prstGeom prst="rect">
            <a:avLst/>
          </a:prstGeom>
        </p:spPr>
      </p:pic>
      <p:sp>
        <p:nvSpPr>
          <p:cNvPr id="14" name="Text 8"/>
          <p:cNvSpPr/>
          <p:nvPr/>
        </p:nvSpPr>
        <p:spPr>
          <a:xfrm>
            <a:off x="7378541" y="4531995"/>
            <a:ext cx="3213378" cy="228005"/>
          </a:xfrm>
          <a:prstGeom prst="rect">
            <a:avLst/>
          </a:prstGeom>
          <a:noFill/>
          <a:ln/>
        </p:spPr>
        <p:txBody>
          <a:bodyPr wrap="none" lIns="0" tIns="0" rIns="0" bIns="0" rtlCol="0" anchor="t"/>
          <a:lstStyle/>
          <a:p>
            <a:pPr marL="0" indent="0" algn="l">
              <a:lnSpc>
                <a:spcPts val="1750"/>
              </a:lnSpc>
              <a:buNone/>
            </a:pPr>
            <a:r>
              <a:rPr lang="en-US" sz="1400" b="1" dirty="0">
                <a:solidFill>
                  <a:srgbClr val="384653"/>
                </a:solidFill>
                <a:latin typeface="Barlow Bold" pitchFamily="34" charset="0"/>
                <a:ea typeface="Barlow Bold" pitchFamily="34" charset="-122"/>
                <a:cs typeface="Barlow Bold" pitchFamily="34" charset="-120"/>
              </a:rPr>
              <a:t>Autonomous Vehicles: Object Detection</a:t>
            </a:r>
            <a:endParaRPr lang="en-US" sz="1400" dirty="0"/>
          </a:p>
        </p:txBody>
      </p:sp>
      <p:sp>
        <p:nvSpPr>
          <p:cNvPr id="15" name="Text 9"/>
          <p:cNvSpPr/>
          <p:nvPr/>
        </p:nvSpPr>
        <p:spPr>
          <a:xfrm>
            <a:off x="7378541" y="4820721"/>
            <a:ext cx="5177732" cy="651747"/>
          </a:xfrm>
          <a:prstGeom prst="rect">
            <a:avLst/>
          </a:prstGeom>
          <a:noFill/>
          <a:ln/>
        </p:spPr>
        <p:txBody>
          <a:bodyPr wrap="square" lIns="0" tIns="0" rIns="0" bIns="0" rtlCol="0" anchor="t"/>
          <a:lstStyle/>
          <a:p>
            <a:pPr marL="0" indent="0" algn="l">
              <a:lnSpc>
                <a:spcPts val="1500"/>
              </a:lnSpc>
              <a:buNone/>
            </a:pPr>
            <a:r>
              <a:rPr lang="en-US" sz="1400" dirty="0">
                <a:solidFill>
                  <a:srgbClr val="384653"/>
                </a:solidFill>
                <a:latin typeface="Montserrat" pitchFamily="34" charset="0"/>
                <a:ea typeface="Montserrat" pitchFamily="34" charset="-122"/>
                <a:cs typeface="Montserrat" pitchFamily="34" charset="-120"/>
              </a:rPr>
              <a:t>Identifying pedestrians, vehicles, traffic signs, and obstacles in real-time. Self-driving cars rely on supervised learning to navigate safely, processing camera, radar, and lidar data to make split-second decisions.</a:t>
            </a:r>
            <a:endParaRPr lang="en-US" sz="1400" dirty="0"/>
          </a:p>
        </p:txBody>
      </p:sp>
      <p:pic>
        <p:nvPicPr>
          <p:cNvPr id="16"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561862" y="5599152"/>
            <a:ext cx="415766" cy="415766"/>
          </a:xfrm>
          <a:prstGeom prst="rect">
            <a:avLst/>
          </a:prstGeom>
        </p:spPr>
      </p:pic>
      <p:sp>
        <p:nvSpPr>
          <p:cNvPr id="17" name="Text 10"/>
          <p:cNvSpPr/>
          <p:nvPr/>
        </p:nvSpPr>
        <p:spPr>
          <a:xfrm>
            <a:off x="1561862" y="6141601"/>
            <a:ext cx="2366724" cy="228005"/>
          </a:xfrm>
          <a:prstGeom prst="rect">
            <a:avLst/>
          </a:prstGeom>
          <a:noFill/>
          <a:ln/>
        </p:spPr>
        <p:txBody>
          <a:bodyPr wrap="none" lIns="0" tIns="0" rIns="0" bIns="0" rtlCol="0" anchor="t"/>
          <a:lstStyle/>
          <a:p>
            <a:pPr marL="0" indent="0" algn="l">
              <a:lnSpc>
                <a:spcPts val="1750"/>
              </a:lnSpc>
              <a:buNone/>
            </a:pPr>
            <a:r>
              <a:rPr lang="en-US" sz="1400" b="1" dirty="0">
                <a:solidFill>
                  <a:srgbClr val="384653"/>
                </a:solidFill>
                <a:latin typeface="Barlow Bold" pitchFamily="34" charset="0"/>
                <a:ea typeface="Barlow Bold" pitchFamily="34" charset="-122"/>
                <a:cs typeface="Barlow Bold" pitchFamily="34" charset="-120"/>
              </a:rPr>
              <a:t>Natural Language Processing</a:t>
            </a:r>
            <a:endParaRPr lang="en-US" sz="1400" dirty="0"/>
          </a:p>
        </p:txBody>
      </p:sp>
      <p:sp>
        <p:nvSpPr>
          <p:cNvPr id="18" name="Text 11"/>
          <p:cNvSpPr/>
          <p:nvPr/>
        </p:nvSpPr>
        <p:spPr>
          <a:xfrm>
            <a:off x="1561862" y="6430328"/>
            <a:ext cx="5689997" cy="575786"/>
          </a:xfrm>
          <a:prstGeom prst="rect">
            <a:avLst/>
          </a:prstGeom>
          <a:noFill/>
          <a:ln/>
        </p:spPr>
        <p:txBody>
          <a:bodyPr wrap="square" lIns="0" tIns="0" rIns="0" bIns="0" rtlCol="0" anchor="t"/>
          <a:lstStyle/>
          <a:p>
            <a:pPr marL="0" indent="0" algn="l">
              <a:lnSpc>
                <a:spcPts val="1500"/>
              </a:lnSpc>
              <a:buNone/>
            </a:pPr>
            <a:r>
              <a:rPr lang="en-US" sz="1400" dirty="0">
                <a:solidFill>
                  <a:srgbClr val="384653"/>
                </a:solidFill>
                <a:latin typeface="Montserrat" pitchFamily="34" charset="0"/>
                <a:ea typeface="Montserrat" pitchFamily="34" charset="-122"/>
                <a:cs typeface="Montserrat" pitchFamily="34" charset="-120"/>
              </a:rPr>
              <a:t>Understanding and translating human language. Voice assistants, chatbots, and translation services all use supervised learning to convert speech to text, understand intent, and generate appropriate responses.</a:t>
            </a:r>
            <a:endParaRPr lang="en-US" sz="1400" dirty="0"/>
          </a:p>
        </p:txBody>
      </p:sp>
      <p:pic>
        <p:nvPicPr>
          <p:cNvPr id="19"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378541" y="5599152"/>
            <a:ext cx="415766" cy="415766"/>
          </a:xfrm>
          <a:prstGeom prst="rect">
            <a:avLst/>
          </a:prstGeom>
        </p:spPr>
      </p:pic>
      <p:sp>
        <p:nvSpPr>
          <p:cNvPr id="20" name="Text 12"/>
          <p:cNvSpPr/>
          <p:nvPr/>
        </p:nvSpPr>
        <p:spPr>
          <a:xfrm>
            <a:off x="7378541" y="6141601"/>
            <a:ext cx="2265521" cy="228005"/>
          </a:xfrm>
          <a:prstGeom prst="rect">
            <a:avLst/>
          </a:prstGeom>
          <a:noFill/>
          <a:ln/>
        </p:spPr>
        <p:txBody>
          <a:bodyPr wrap="none" lIns="0" tIns="0" rIns="0" bIns="0" rtlCol="0" anchor="t"/>
          <a:lstStyle/>
          <a:p>
            <a:pPr marL="0" indent="0" algn="l">
              <a:lnSpc>
                <a:spcPts val="1750"/>
              </a:lnSpc>
              <a:buNone/>
            </a:pPr>
            <a:r>
              <a:rPr lang="en-US" sz="1400" b="1" dirty="0">
                <a:solidFill>
                  <a:srgbClr val="384653"/>
                </a:solidFill>
                <a:latin typeface="Barlow Bold" pitchFamily="34" charset="0"/>
                <a:ea typeface="Barlow Bold" pitchFamily="34" charset="-122"/>
                <a:cs typeface="Barlow Bold" pitchFamily="34" charset="-120"/>
              </a:rPr>
              <a:t>Security: Facial Recognition</a:t>
            </a:r>
            <a:endParaRPr lang="en-US" sz="1400" dirty="0"/>
          </a:p>
        </p:txBody>
      </p:sp>
      <p:sp>
        <p:nvSpPr>
          <p:cNvPr id="21" name="Text 13"/>
          <p:cNvSpPr/>
          <p:nvPr/>
        </p:nvSpPr>
        <p:spPr>
          <a:xfrm>
            <a:off x="7378541" y="6430328"/>
            <a:ext cx="4865499" cy="1085594"/>
          </a:xfrm>
          <a:prstGeom prst="rect">
            <a:avLst/>
          </a:prstGeom>
          <a:noFill/>
          <a:ln/>
        </p:spPr>
        <p:txBody>
          <a:bodyPr wrap="square" lIns="0" tIns="0" rIns="0" bIns="0" rtlCol="0" anchor="t"/>
          <a:lstStyle/>
          <a:p>
            <a:pPr marL="0" indent="0" algn="l">
              <a:lnSpc>
                <a:spcPts val="1500"/>
              </a:lnSpc>
              <a:buNone/>
            </a:pPr>
            <a:r>
              <a:rPr lang="en-US" sz="1400" dirty="0">
                <a:solidFill>
                  <a:srgbClr val="384653"/>
                </a:solidFill>
                <a:latin typeface="Montserrat" pitchFamily="34" charset="0"/>
                <a:ea typeface="Montserrat" pitchFamily="34" charset="-122"/>
                <a:cs typeface="Montserrat" pitchFamily="34" charset="-120"/>
              </a:rPr>
              <a:t>Identifying individuals from images and video footage. Used for unlocking phones, airport security, finding missing persons, and monitoring public spaces. These systems learn to recognize unique facial features from thousands of labeled examples.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43783" y="547330"/>
            <a:ext cx="6670834" cy="611624"/>
          </a:xfrm>
          <a:prstGeom prst="rect">
            <a:avLst/>
          </a:prstGeom>
          <a:noFill/>
          <a:ln/>
        </p:spPr>
        <p:txBody>
          <a:bodyPr wrap="none" lIns="0" tIns="0" rIns="0" bIns="0" rtlCol="0" anchor="t"/>
          <a:lstStyle/>
          <a:p>
            <a:pPr marL="0" indent="0" algn="l">
              <a:lnSpc>
                <a:spcPts val="4800"/>
              </a:lnSpc>
              <a:buNone/>
            </a:pPr>
            <a:r>
              <a:rPr lang="en-US" sz="3850" b="1" dirty="0">
                <a:solidFill>
                  <a:srgbClr val="2E3C4E"/>
                </a:solidFill>
                <a:latin typeface="Barlow Bold" pitchFamily="34" charset="0"/>
                <a:ea typeface="Barlow Bold" pitchFamily="34" charset="-122"/>
                <a:cs typeface="Barlow Bold" pitchFamily="34" charset="-120"/>
              </a:rPr>
              <a:t>The Importance of Data Quality</a:t>
            </a:r>
            <a:endParaRPr lang="en-US" sz="3850" dirty="0"/>
          </a:p>
        </p:txBody>
      </p:sp>
      <p:sp>
        <p:nvSpPr>
          <p:cNvPr id="3" name="Text 1"/>
          <p:cNvSpPr/>
          <p:nvPr/>
        </p:nvSpPr>
        <p:spPr>
          <a:xfrm>
            <a:off x="1022628" y="1728907"/>
            <a:ext cx="12863989" cy="294680"/>
          </a:xfrm>
          <a:prstGeom prst="rect">
            <a:avLst/>
          </a:prstGeom>
          <a:noFill/>
          <a:ln/>
        </p:spPr>
        <p:txBody>
          <a:bodyPr wrap="none" lIns="0" tIns="0" rIns="0" bIns="0" rtlCol="0" anchor="t"/>
          <a:lstStyle/>
          <a:p>
            <a:pPr marL="0" indent="0" algn="l">
              <a:lnSpc>
                <a:spcPts val="2300"/>
              </a:lnSpc>
              <a:buNone/>
            </a:pPr>
            <a:r>
              <a:rPr lang="en-US" sz="1450" dirty="0">
                <a:solidFill>
                  <a:srgbClr val="384653"/>
                </a:solidFill>
                <a:latin typeface="Montserrat" pitchFamily="34" charset="0"/>
                <a:ea typeface="Montserrat" pitchFamily="34" charset="-122"/>
                <a:cs typeface="Montserrat" pitchFamily="34" charset="-120"/>
              </a:rPr>
              <a:t>"Your output is only as good as your input."</a:t>
            </a:r>
            <a:endParaRPr lang="en-US" sz="1450" dirty="0"/>
          </a:p>
        </p:txBody>
      </p:sp>
      <p:sp>
        <p:nvSpPr>
          <p:cNvPr id="4" name="Shape 2"/>
          <p:cNvSpPr/>
          <p:nvPr/>
        </p:nvSpPr>
        <p:spPr>
          <a:xfrm>
            <a:off x="743783" y="1523762"/>
            <a:ext cx="22860" cy="704969"/>
          </a:xfrm>
          <a:prstGeom prst="rect">
            <a:avLst/>
          </a:prstGeom>
          <a:solidFill>
            <a:srgbClr val="75BAE6"/>
          </a:solidFill>
          <a:ln/>
        </p:spPr>
      </p:sp>
      <p:sp>
        <p:nvSpPr>
          <p:cNvPr id="5" name="Text 3"/>
          <p:cNvSpPr/>
          <p:nvPr/>
        </p:nvSpPr>
        <p:spPr>
          <a:xfrm>
            <a:off x="743783" y="2433876"/>
            <a:ext cx="13142833" cy="589359"/>
          </a:xfrm>
          <a:prstGeom prst="rect">
            <a:avLst/>
          </a:prstGeom>
          <a:noFill/>
          <a:ln/>
        </p:spPr>
        <p:txBody>
          <a:bodyPr wrap="square" lIns="0" tIns="0" rIns="0" bIns="0" rtlCol="0" anchor="t"/>
          <a:lstStyle/>
          <a:p>
            <a:pPr marL="0" indent="0" algn="l">
              <a:lnSpc>
                <a:spcPts val="2300"/>
              </a:lnSpc>
              <a:buNone/>
            </a:pPr>
            <a:r>
              <a:rPr lang="en-US" sz="1450" dirty="0">
                <a:solidFill>
                  <a:srgbClr val="384653"/>
                </a:solidFill>
                <a:latin typeface="Montserrat" pitchFamily="34" charset="0"/>
                <a:ea typeface="Montserrat" pitchFamily="34" charset="-122"/>
                <a:cs typeface="Montserrat" pitchFamily="34" charset="-120"/>
              </a:rPr>
              <a:t>This adage holds especially true for supervised learning. The quality of your labeled training data fundamentally determines how well your model will perform. Garbage in, garbage out—no amount of sophisticated algorithm tuning can fix poor-quality training data.</a:t>
            </a:r>
            <a:endParaRPr lang="en-US" sz="1450" dirty="0"/>
          </a:p>
        </p:txBody>
      </p:sp>
      <p:sp>
        <p:nvSpPr>
          <p:cNvPr id="6" name="Shape 4"/>
          <p:cNvSpPr/>
          <p:nvPr/>
        </p:nvSpPr>
        <p:spPr>
          <a:xfrm>
            <a:off x="743783" y="3228380"/>
            <a:ext cx="4259342" cy="2275523"/>
          </a:xfrm>
          <a:prstGeom prst="roundRect">
            <a:avLst>
              <a:gd name="adj" fmla="val 12259"/>
            </a:avLst>
          </a:prstGeom>
          <a:solidFill>
            <a:srgbClr val="D4E9F7"/>
          </a:solidFill>
          <a:ln w="7620">
            <a:solidFill>
              <a:srgbClr val="BACFDD"/>
            </a:solidFill>
            <a:prstDash val="solid"/>
          </a:ln>
        </p:spPr>
      </p:sp>
      <p:sp>
        <p:nvSpPr>
          <p:cNvPr id="7" name="Text 5"/>
          <p:cNvSpPr/>
          <p:nvPr/>
        </p:nvSpPr>
        <p:spPr>
          <a:xfrm>
            <a:off x="937260" y="3421856"/>
            <a:ext cx="2446853" cy="305753"/>
          </a:xfrm>
          <a:prstGeom prst="rect">
            <a:avLst/>
          </a:prstGeom>
          <a:noFill/>
          <a:ln/>
        </p:spPr>
        <p:txBody>
          <a:bodyPr wrap="none" lIns="0" tIns="0" rIns="0" bIns="0" rtlCol="0" anchor="t"/>
          <a:lstStyle/>
          <a:p>
            <a:pPr marL="0" indent="0" algn="l">
              <a:lnSpc>
                <a:spcPts val="2400"/>
              </a:lnSpc>
              <a:buNone/>
            </a:pPr>
            <a:r>
              <a:rPr lang="en-US" sz="1900" b="1" dirty="0">
                <a:solidFill>
                  <a:srgbClr val="384653"/>
                </a:solidFill>
                <a:latin typeface="Barlow Bold" pitchFamily="34" charset="0"/>
                <a:ea typeface="Barlow Bold" pitchFamily="34" charset="-122"/>
                <a:cs typeface="Barlow Bold" pitchFamily="34" charset="-120"/>
              </a:rPr>
              <a:t>Accurate Labels</a:t>
            </a:r>
            <a:endParaRPr lang="en-US" sz="1900" dirty="0"/>
          </a:p>
        </p:txBody>
      </p:sp>
      <p:sp>
        <p:nvSpPr>
          <p:cNvPr id="8" name="Text 6"/>
          <p:cNvSpPr/>
          <p:nvPr/>
        </p:nvSpPr>
        <p:spPr>
          <a:xfrm>
            <a:off x="937260" y="3837027"/>
            <a:ext cx="3872389" cy="1473398"/>
          </a:xfrm>
          <a:prstGeom prst="rect">
            <a:avLst/>
          </a:prstGeom>
          <a:noFill/>
          <a:ln/>
        </p:spPr>
        <p:txBody>
          <a:bodyPr wrap="square" lIns="0" tIns="0" rIns="0" bIns="0" rtlCol="0" anchor="t"/>
          <a:lstStyle/>
          <a:p>
            <a:pPr marL="0" indent="0" algn="l">
              <a:lnSpc>
                <a:spcPts val="2300"/>
              </a:lnSpc>
              <a:buNone/>
            </a:pPr>
            <a:r>
              <a:rPr lang="en-US" sz="1450" dirty="0">
                <a:solidFill>
                  <a:srgbClr val="384653"/>
                </a:solidFill>
                <a:latin typeface="Montserrat" pitchFamily="34" charset="0"/>
                <a:ea typeface="Montserrat" pitchFamily="34" charset="-122"/>
                <a:cs typeface="Montserrat" pitchFamily="34" charset="-120"/>
              </a:rPr>
              <a:t>Every training example must have the correct label. Inaccurate labels teach the model wrong patterns, leading to poor predictions. Quality control during data labeling is essential.</a:t>
            </a:r>
            <a:endParaRPr lang="en-US" sz="1450" dirty="0"/>
          </a:p>
        </p:txBody>
      </p:sp>
      <p:sp>
        <p:nvSpPr>
          <p:cNvPr id="9" name="Shape 7"/>
          <p:cNvSpPr/>
          <p:nvPr/>
        </p:nvSpPr>
        <p:spPr>
          <a:xfrm>
            <a:off x="5185529" y="3228380"/>
            <a:ext cx="4259342" cy="2275523"/>
          </a:xfrm>
          <a:prstGeom prst="roundRect">
            <a:avLst>
              <a:gd name="adj" fmla="val 12259"/>
            </a:avLst>
          </a:prstGeom>
          <a:solidFill>
            <a:srgbClr val="D4E9F7"/>
          </a:solidFill>
          <a:ln w="7620">
            <a:solidFill>
              <a:srgbClr val="BACFDD"/>
            </a:solidFill>
            <a:prstDash val="solid"/>
          </a:ln>
        </p:spPr>
      </p:sp>
      <p:sp>
        <p:nvSpPr>
          <p:cNvPr id="10" name="Text 8"/>
          <p:cNvSpPr/>
          <p:nvPr/>
        </p:nvSpPr>
        <p:spPr>
          <a:xfrm>
            <a:off x="5379006" y="3421856"/>
            <a:ext cx="2446853" cy="305753"/>
          </a:xfrm>
          <a:prstGeom prst="rect">
            <a:avLst/>
          </a:prstGeom>
          <a:noFill/>
          <a:ln/>
        </p:spPr>
        <p:txBody>
          <a:bodyPr wrap="none" lIns="0" tIns="0" rIns="0" bIns="0" rtlCol="0" anchor="t"/>
          <a:lstStyle/>
          <a:p>
            <a:pPr marL="0" indent="0" algn="l">
              <a:lnSpc>
                <a:spcPts val="2400"/>
              </a:lnSpc>
              <a:buNone/>
            </a:pPr>
            <a:r>
              <a:rPr lang="en-US" sz="1900" b="1" dirty="0">
                <a:solidFill>
                  <a:srgbClr val="384653"/>
                </a:solidFill>
                <a:latin typeface="Barlow Bold" pitchFamily="34" charset="0"/>
                <a:ea typeface="Barlow Bold" pitchFamily="34" charset="-122"/>
                <a:cs typeface="Barlow Bold" pitchFamily="34" charset="-120"/>
              </a:rPr>
              <a:t>Relevant Features</a:t>
            </a:r>
            <a:endParaRPr lang="en-US" sz="1900" dirty="0"/>
          </a:p>
        </p:txBody>
      </p:sp>
      <p:sp>
        <p:nvSpPr>
          <p:cNvPr id="11" name="Text 9"/>
          <p:cNvSpPr/>
          <p:nvPr/>
        </p:nvSpPr>
        <p:spPr>
          <a:xfrm>
            <a:off x="5379006" y="3837027"/>
            <a:ext cx="3872389" cy="1473398"/>
          </a:xfrm>
          <a:prstGeom prst="rect">
            <a:avLst/>
          </a:prstGeom>
          <a:noFill/>
          <a:ln/>
        </p:spPr>
        <p:txBody>
          <a:bodyPr wrap="square" lIns="0" tIns="0" rIns="0" bIns="0" rtlCol="0" anchor="t"/>
          <a:lstStyle/>
          <a:p>
            <a:pPr marL="0" indent="0" algn="l">
              <a:lnSpc>
                <a:spcPts val="2300"/>
              </a:lnSpc>
              <a:buNone/>
            </a:pPr>
            <a:r>
              <a:rPr lang="en-US" sz="1450" dirty="0">
                <a:solidFill>
                  <a:srgbClr val="384653"/>
                </a:solidFill>
                <a:latin typeface="Montserrat" pitchFamily="34" charset="0"/>
                <a:ea typeface="Montserrat" pitchFamily="34" charset="-122"/>
                <a:cs typeface="Montserrat" pitchFamily="34" charset="-120"/>
              </a:rPr>
              <a:t>The input data must contain features that actually relate to the output you're trying to predict. Irrelevant features add noise and can degrade model performance.</a:t>
            </a:r>
            <a:endParaRPr lang="en-US" sz="1450" dirty="0"/>
          </a:p>
        </p:txBody>
      </p:sp>
      <p:sp>
        <p:nvSpPr>
          <p:cNvPr id="12" name="Shape 10"/>
          <p:cNvSpPr/>
          <p:nvPr/>
        </p:nvSpPr>
        <p:spPr>
          <a:xfrm>
            <a:off x="9627275" y="3228380"/>
            <a:ext cx="4259342" cy="2275523"/>
          </a:xfrm>
          <a:prstGeom prst="roundRect">
            <a:avLst>
              <a:gd name="adj" fmla="val 12259"/>
            </a:avLst>
          </a:prstGeom>
          <a:solidFill>
            <a:srgbClr val="D4E9F7"/>
          </a:solidFill>
          <a:ln w="7620">
            <a:solidFill>
              <a:srgbClr val="BACFDD"/>
            </a:solidFill>
            <a:prstDash val="solid"/>
          </a:ln>
        </p:spPr>
      </p:sp>
      <p:sp>
        <p:nvSpPr>
          <p:cNvPr id="13" name="Text 11"/>
          <p:cNvSpPr/>
          <p:nvPr/>
        </p:nvSpPr>
        <p:spPr>
          <a:xfrm>
            <a:off x="9820751" y="3421856"/>
            <a:ext cx="2446853" cy="305753"/>
          </a:xfrm>
          <a:prstGeom prst="rect">
            <a:avLst/>
          </a:prstGeom>
          <a:noFill/>
          <a:ln/>
        </p:spPr>
        <p:txBody>
          <a:bodyPr wrap="none" lIns="0" tIns="0" rIns="0" bIns="0" rtlCol="0" anchor="t"/>
          <a:lstStyle/>
          <a:p>
            <a:pPr marL="0" indent="0" algn="l">
              <a:lnSpc>
                <a:spcPts val="2400"/>
              </a:lnSpc>
              <a:buNone/>
            </a:pPr>
            <a:r>
              <a:rPr lang="en-US" sz="1900" b="1" dirty="0">
                <a:solidFill>
                  <a:srgbClr val="384653"/>
                </a:solidFill>
                <a:latin typeface="Barlow Bold" pitchFamily="34" charset="0"/>
                <a:ea typeface="Barlow Bold" pitchFamily="34" charset="-122"/>
                <a:cs typeface="Barlow Bold" pitchFamily="34" charset="-120"/>
              </a:rPr>
              <a:t>Diverse Examples</a:t>
            </a:r>
            <a:endParaRPr lang="en-US" sz="1900" dirty="0"/>
          </a:p>
        </p:txBody>
      </p:sp>
      <p:sp>
        <p:nvSpPr>
          <p:cNvPr id="14" name="Text 12"/>
          <p:cNvSpPr/>
          <p:nvPr/>
        </p:nvSpPr>
        <p:spPr>
          <a:xfrm>
            <a:off x="9820751" y="3837027"/>
            <a:ext cx="3872389" cy="1473398"/>
          </a:xfrm>
          <a:prstGeom prst="rect">
            <a:avLst/>
          </a:prstGeom>
          <a:noFill/>
          <a:ln/>
        </p:spPr>
        <p:txBody>
          <a:bodyPr wrap="square" lIns="0" tIns="0" rIns="0" bIns="0" rtlCol="0" anchor="t"/>
          <a:lstStyle/>
          <a:p>
            <a:pPr marL="0" indent="0" algn="l">
              <a:lnSpc>
                <a:spcPts val="2300"/>
              </a:lnSpc>
              <a:buNone/>
            </a:pPr>
            <a:r>
              <a:rPr lang="en-US" sz="1450" dirty="0">
                <a:solidFill>
                  <a:srgbClr val="384653"/>
                </a:solidFill>
                <a:latin typeface="Montserrat" pitchFamily="34" charset="0"/>
                <a:ea typeface="Montserrat" pitchFamily="34" charset="-122"/>
                <a:cs typeface="Montserrat" pitchFamily="34" charset="-120"/>
              </a:rPr>
              <a:t>The training data should represent the full range of situations the model will encounter. Biased or narrow training data leads to models that fail on edge cases.</a:t>
            </a:r>
            <a:endParaRPr lang="en-US" sz="1450" dirty="0"/>
          </a:p>
        </p:txBody>
      </p:sp>
      <p:sp>
        <p:nvSpPr>
          <p:cNvPr id="15" name="Text 13"/>
          <p:cNvSpPr/>
          <p:nvPr/>
        </p:nvSpPr>
        <p:spPr>
          <a:xfrm>
            <a:off x="743783" y="5709047"/>
            <a:ext cx="13142833" cy="1178719"/>
          </a:xfrm>
          <a:prstGeom prst="rect">
            <a:avLst/>
          </a:prstGeom>
          <a:noFill/>
          <a:ln/>
        </p:spPr>
        <p:txBody>
          <a:bodyPr wrap="square" lIns="0" tIns="0" rIns="0" bIns="0" rtlCol="0" anchor="t"/>
          <a:lstStyle/>
          <a:p>
            <a:pPr marL="0" indent="0" algn="l">
              <a:lnSpc>
                <a:spcPts val="2300"/>
              </a:lnSpc>
              <a:buNone/>
            </a:pPr>
            <a:r>
              <a:rPr lang="en-US" sz="1450" dirty="0">
                <a:solidFill>
                  <a:srgbClr val="384653"/>
                </a:solidFill>
                <a:latin typeface="Montserrat" pitchFamily="34" charset="0"/>
                <a:ea typeface="Montserrat" pitchFamily="34" charset="-122"/>
                <a:cs typeface="Montserrat" pitchFamily="34" charset="-120"/>
              </a:rPr>
              <a:t>Creating high-quality labeled datasets is often the most time-consuming and expensive part of supervised learning projects. Data scientists spend considerable effort collecting, cleaning, and labeling data before any model training begins. This process might involve hiring domain experts to label complex data, implementing automated quality checks, or using active learning strategies that prioritize the most informative examples for labeling.</a:t>
            </a:r>
            <a:endParaRPr lang="en-US" sz="1450" dirty="0"/>
          </a:p>
        </p:txBody>
      </p:sp>
      <p:sp>
        <p:nvSpPr>
          <p:cNvPr id="16" name="Text 14"/>
          <p:cNvSpPr/>
          <p:nvPr/>
        </p:nvSpPr>
        <p:spPr>
          <a:xfrm>
            <a:off x="743783" y="7092910"/>
            <a:ext cx="13142833" cy="589359"/>
          </a:xfrm>
          <a:prstGeom prst="rect">
            <a:avLst/>
          </a:prstGeom>
          <a:noFill/>
          <a:ln/>
        </p:spPr>
        <p:txBody>
          <a:bodyPr wrap="square" lIns="0" tIns="0" rIns="0" bIns="0" rtlCol="0" anchor="t"/>
          <a:lstStyle/>
          <a:p>
            <a:pPr marL="0" indent="0" algn="l">
              <a:lnSpc>
                <a:spcPts val="2300"/>
              </a:lnSpc>
              <a:buNone/>
            </a:pPr>
            <a:r>
              <a:rPr lang="en-US" sz="1450" dirty="0">
                <a:solidFill>
                  <a:srgbClr val="384653"/>
                </a:solidFill>
                <a:latin typeface="Montserrat" pitchFamily="34" charset="0"/>
                <a:ea typeface="Montserrat" pitchFamily="34" charset="-122"/>
                <a:cs typeface="Montserrat" pitchFamily="34" charset="-120"/>
              </a:rPr>
              <a:t>Even with perfect data, model performance depends on appropriate algorithm selection, hyperparameter tuning, and validation strategies. But without quality data, even the most sophisticated models will fail to deliver useful predictions.</a:t>
            </a:r>
            <a:endParaRPr lang="en-US" sz="1450" dirty="0"/>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23</TotalTime>
  <Words>1500</Words>
  <Application>Microsoft Office PowerPoint</Application>
  <PresentationFormat>Custom</PresentationFormat>
  <Paragraphs>76</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Barlow Bold</vt:lpstr>
      <vt:lpstr>Trebuchet MS</vt:lpstr>
      <vt:lpstr>Wingdings 3</vt:lpstr>
      <vt:lpstr>Arial</vt:lpstr>
      <vt:lpstr>Montserrat</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mudavath srikanth</cp:lastModifiedBy>
  <cp:revision>4</cp:revision>
  <dcterms:created xsi:type="dcterms:W3CDTF">2026-03-27T16:51:29Z</dcterms:created>
  <dcterms:modified xsi:type="dcterms:W3CDTF">2026-03-27T17:15:05Z</dcterms:modified>
</cp:coreProperties>
</file>