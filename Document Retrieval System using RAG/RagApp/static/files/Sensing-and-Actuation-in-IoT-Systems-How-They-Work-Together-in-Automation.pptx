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7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</p:sldIdLst>
  <p:sldSz cx="14630400" cy="8229600"/>
  <p:notesSz cx="8229600" cy="14630400"/>
  <p:embeddedFontLst>
    <p:embeddedFont>
      <p:font typeface="Alexandria" panose="020B0604020202020204" charset="-78"/>
      <p:regular r:id="rId10"/>
    </p:embeddedFont>
    <p:embeddedFont>
      <p:font typeface="Nobile" panose="020B0604020202020204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78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529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994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26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885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848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200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9026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035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3088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0732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566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135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87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774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371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8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  <p:sldLayoutId id="2147483890" r:id="rId13"/>
    <p:sldLayoutId id="2147483894" r:id="rId14"/>
    <p:sldLayoutId id="2147483895" r:id="rId1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frontiersin.org/articles/10.3389/fnbot.2019.00017/ful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ectronics-lab.com/2016/10/page/2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tr.pinterest.com/pin/483292603784626914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mathisintheair.org/wp/2015/02/matematica-e-internet-of-thing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electronics-lab.com/tag/bigclow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69724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Sensing and Actuation in IoT Systems: How They Work Together in Automation</a:t>
            </a:r>
            <a:endParaRPr lang="en-US" sz="4450" dirty="0"/>
          </a:p>
        </p:txBody>
      </p:sp>
      <p:pic>
        <p:nvPicPr>
          <p:cNvPr id="1026" name="Picture 2" descr="IoT Connectivity ...">
            <a:extLst>
              <a:ext uri="{FF2B5EF4-FFF2-40B4-BE49-F238E27FC236}">
                <a16:creationId xmlns:a16="http://schemas.microsoft.com/office/drawing/2014/main" id="{07D3B358-AA24-7433-AB37-CDBF4DD1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995" y="2307626"/>
            <a:ext cx="4226312" cy="361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76724" y="862370"/>
            <a:ext cx="5578793" cy="616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is Sensing in IoT?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6724" y="2070259"/>
            <a:ext cx="3783092" cy="3033236"/>
          </a:xfrm>
          <a:prstGeom prst="roundRect">
            <a:avLst>
              <a:gd name="adj" fmla="val 3618"/>
            </a:avLst>
          </a:prstGeom>
          <a:solidFill>
            <a:srgbClr val="F9F9FF"/>
          </a:solidFill>
          <a:ln/>
        </p:spPr>
      </p:sp>
      <p:sp>
        <p:nvSpPr>
          <p:cNvPr id="5" name="Shape 2"/>
          <p:cNvSpPr/>
          <p:nvPr/>
        </p:nvSpPr>
        <p:spPr>
          <a:xfrm>
            <a:off x="6176724" y="2047399"/>
            <a:ext cx="3783092" cy="91440"/>
          </a:xfrm>
          <a:prstGeom prst="roundRect">
            <a:avLst>
              <a:gd name="adj" fmla="val 90597"/>
            </a:avLst>
          </a:prstGeom>
          <a:solidFill>
            <a:srgbClr val="1B54DA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60" y="1774508"/>
            <a:ext cx="591622" cy="591622"/>
          </a:xfrm>
          <a:prstGeom prst="roundRect">
            <a:avLst>
              <a:gd name="adj" fmla="val 154558"/>
            </a:avLst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7949982" y="1922383"/>
            <a:ext cx="236577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96752" y="2563297"/>
            <a:ext cx="2465427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Physical Detection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96752" y="2989659"/>
            <a:ext cx="3343037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Sensors are the 'eyes' and 'ears' of IoT, detecting and measuring physical properties like temperature, motion, light, humidity, or pressure from the environment.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156984" y="2070259"/>
            <a:ext cx="3783092" cy="3033236"/>
          </a:xfrm>
          <a:prstGeom prst="roundRect">
            <a:avLst>
              <a:gd name="adj" fmla="val 3618"/>
            </a:avLst>
          </a:prstGeom>
          <a:solidFill>
            <a:srgbClr val="F9F9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156984" y="2047399"/>
            <a:ext cx="3783092" cy="91440"/>
          </a:xfrm>
          <a:prstGeom prst="roundRect">
            <a:avLst>
              <a:gd name="adj" fmla="val 90597"/>
            </a:avLst>
          </a:prstGeom>
          <a:solidFill>
            <a:srgbClr val="1B54D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52719" y="1774508"/>
            <a:ext cx="591622" cy="591622"/>
          </a:xfrm>
          <a:prstGeom prst="roundRect">
            <a:avLst>
              <a:gd name="adj" fmla="val 154558"/>
            </a:avLst>
          </a:prstGeom>
          <a:solidFill>
            <a:srgbClr val="1B54DA"/>
          </a:solidFill>
          <a:ln/>
        </p:spPr>
      </p:sp>
      <p:sp>
        <p:nvSpPr>
          <p:cNvPr id="13" name="Text 10"/>
          <p:cNvSpPr/>
          <p:nvPr/>
        </p:nvSpPr>
        <p:spPr>
          <a:xfrm>
            <a:off x="11930241" y="1922383"/>
            <a:ext cx="236577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0377011" y="2563297"/>
            <a:ext cx="2465427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Conversion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377011" y="2989659"/>
            <a:ext cx="3343037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They convert these real-world analog signals into digital data, making them interpretable for processing by electronic systems.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176724" y="5596414"/>
            <a:ext cx="7763351" cy="1770697"/>
          </a:xfrm>
          <a:prstGeom prst="roundRect">
            <a:avLst>
              <a:gd name="adj" fmla="val 6197"/>
            </a:avLst>
          </a:prstGeom>
          <a:solidFill>
            <a:srgbClr val="F9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6724" y="5573554"/>
            <a:ext cx="7763351" cy="91440"/>
          </a:xfrm>
          <a:prstGeom prst="roundRect">
            <a:avLst>
              <a:gd name="adj" fmla="val 90597"/>
            </a:avLst>
          </a:prstGeom>
          <a:solidFill>
            <a:srgbClr val="1B54DA"/>
          </a:solidFill>
          <a:ln/>
        </p:spPr>
      </p:sp>
      <p:sp>
        <p:nvSpPr>
          <p:cNvPr id="18" name="Shape 15"/>
          <p:cNvSpPr/>
          <p:nvPr/>
        </p:nvSpPr>
        <p:spPr>
          <a:xfrm>
            <a:off x="9762589" y="5300663"/>
            <a:ext cx="591622" cy="591622"/>
          </a:xfrm>
          <a:prstGeom prst="roundRect">
            <a:avLst>
              <a:gd name="adj" fmla="val 154558"/>
            </a:avLst>
          </a:prstGeom>
          <a:solidFill>
            <a:srgbClr val="1B54DA"/>
          </a:solidFill>
          <a:ln/>
        </p:spPr>
      </p:sp>
      <p:sp>
        <p:nvSpPr>
          <p:cNvPr id="19" name="Text 16"/>
          <p:cNvSpPr/>
          <p:nvPr/>
        </p:nvSpPr>
        <p:spPr>
          <a:xfrm>
            <a:off x="9940111" y="5448538"/>
            <a:ext cx="236577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396752" y="6089452"/>
            <a:ext cx="2863691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Real-World Application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396752" y="6515814"/>
            <a:ext cx="7323296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example, a temperature sensor in a smart thermostat continuously measures room temperature, providing critical data for climate control.</a:t>
            </a:r>
            <a:endParaRPr lang="en-US" sz="1550" dirty="0"/>
          </a:p>
        </p:txBody>
      </p:sp>
      <p:pic>
        <p:nvPicPr>
          <p:cNvPr id="2050" name="Picture 2" descr="Temperature Sensors">
            <a:extLst>
              <a:ext uri="{FF2B5EF4-FFF2-40B4-BE49-F238E27FC236}">
                <a16:creationId xmlns:a16="http://schemas.microsoft.com/office/drawing/2014/main" id="{0963533B-D2E2-1F40-05AC-E00A8C9FB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53" y="1478757"/>
            <a:ext cx="4589858" cy="588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2078" y="1130260"/>
            <a:ext cx="584096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is Actuation in IoT?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152078" y="2295168"/>
            <a:ext cx="3811191" cy="2620685"/>
          </a:xfrm>
          <a:prstGeom prst="roundRect">
            <a:avLst>
              <a:gd name="adj" fmla="val 4187"/>
            </a:avLst>
          </a:prstGeom>
          <a:solidFill>
            <a:srgbClr val="F9F9FF"/>
          </a:solidFill>
          <a:ln/>
        </p:spPr>
      </p:sp>
      <p:sp>
        <p:nvSpPr>
          <p:cNvPr id="5" name="Shape 2"/>
          <p:cNvSpPr/>
          <p:nvPr/>
        </p:nvSpPr>
        <p:spPr>
          <a:xfrm>
            <a:off x="6152078" y="2272308"/>
            <a:ext cx="3811191" cy="91440"/>
          </a:xfrm>
          <a:prstGeom prst="roundRect">
            <a:avLst>
              <a:gd name="adj" fmla="val 87361"/>
            </a:avLst>
          </a:prstGeom>
          <a:solidFill>
            <a:srgbClr val="1B54DA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2009894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7943612" y="2152531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65081" y="2770584"/>
            <a:ext cx="251031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Command Execution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65081" y="3181826"/>
            <a:ext cx="3385185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Actuators are the 'muscles' of IoT. They receive commands and convert electrical signals into tangible physical actions or movements.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153412" y="2295168"/>
            <a:ext cx="3811310" cy="2620685"/>
          </a:xfrm>
          <a:prstGeom prst="roundRect">
            <a:avLst>
              <a:gd name="adj" fmla="val 4187"/>
            </a:avLst>
          </a:prstGeom>
          <a:solidFill>
            <a:srgbClr val="F9F9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153412" y="2272308"/>
            <a:ext cx="3811310" cy="91440"/>
          </a:xfrm>
          <a:prstGeom prst="roundRect">
            <a:avLst>
              <a:gd name="adj" fmla="val 87361"/>
            </a:avLst>
          </a:prstGeom>
          <a:solidFill>
            <a:srgbClr val="1B54D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73733" y="2009894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1B54DA"/>
          </a:solidFill>
          <a:ln/>
        </p:spPr>
      </p:sp>
      <p:sp>
        <p:nvSpPr>
          <p:cNvPr id="13" name="Text 10"/>
          <p:cNvSpPr/>
          <p:nvPr/>
        </p:nvSpPr>
        <p:spPr>
          <a:xfrm>
            <a:off x="11944945" y="2152531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66415" y="2770584"/>
            <a:ext cx="282904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Physical Transformation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0366415" y="3181826"/>
            <a:ext cx="3385304" cy="152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They perform tasks such as opening or closing valves, rotating motors, adjusting dimmers, or switching lights on and off, directly impacting the physical world.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52078" y="5391269"/>
            <a:ext cx="7812643" cy="1708071"/>
          </a:xfrm>
          <a:prstGeom prst="roundRect">
            <a:avLst>
              <a:gd name="adj" fmla="val 6424"/>
            </a:avLst>
          </a:prstGeom>
          <a:solidFill>
            <a:srgbClr val="F9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152078" y="5368409"/>
            <a:ext cx="7812643" cy="91440"/>
          </a:xfrm>
          <a:prstGeom prst="roundRect">
            <a:avLst>
              <a:gd name="adj" fmla="val 87361"/>
            </a:avLst>
          </a:prstGeom>
          <a:solidFill>
            <a:srgbClr val="1B54DA"/>
          </a:solidFill>
          <a:ln/>
        </p:spPr>
      </p:sp>
      <p:sp>
        <p:nvSpPr>
          <p:cNvPr id="18" name="Shape 15"/>
          <p:cNvSpPr/>
          <p:nvPr/>
        </p:nvSpPr>
        <p:spPr>
          <a:xfrm>
            <a:off x="9773126" y="5105995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1B54DA"/>
          </a:solidFill>
          <a:ln/>
        </p:spPr>
      </p:sp>
      <p:sp>
        <p:nvSpPr>
          <p:cNvPr id="19" name="Text 16"/>
          <p:cNvSpPr/>
          <p:nvPr/>
        </p:nvSpPr>
        <p:spPr>
          <a:xfrm>
            <a:off x="9944338" y="5248632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365081" y="5866686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Practical Use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6365081" y="6277928"/>
            <a:ext cx="73866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a smart irrigation system, an actuator might open a precise valve to water specific sections of a garden based on soil moisture data.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5862B9-359A-A992-E597-9BF6B684A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4393" y="2799490"/>
            <a:ext cx="5008394" cy="3014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6266" y="892731"/>
            <a:ext cx="7931468" cy="108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How Sensors and Actuators Work Together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66" y="2235279"/>
            <a:ext cx="866180" cy="12753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682" y="2408515"/>
            <a:ext cx="2165509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645682" y="2783086"/>
            <a:ext cx="689205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Sensors gather environmental data, sending it to a central controller or cloud-based IoT platform.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66" y="3510677"/>
            <a:ext cx="866180" cy="12753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5682" y="3683913"/>
            <a:ext cx="2165509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Analysis &amp; Decision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645682" y="4058483"/>
            <a:ext cx="689205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analyzes this data, applying predefined rules or AI algorithms to determine if a specific action is required.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6" y="4786074"/>
            <a:ext cx="866180" cy="12753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5682" y="4959310"/>
            <a:ext cx="2165509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Action Command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645682" y="5333881"/>
            <a:ext cx="689205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an action is needed, commands are then transmitted to the relevant actuators to initiate physical changes in the environment.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66" y="6061472"/>
            <a:ext cx="866180" cy="12753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45682" y="6234708"/>
            <a:ext cx="2165509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Real-Time Control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645682" y="6609278"/>
            <a:ext cx="689205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continuous feedback loop enables real-time automation and precise control, making IoT systems responsive and adaptive.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2DE3D5-1316-C2E3-E1E6-AB12ED4F88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389328" y="2530561"/>
            <a:ext cx="3791414" cy="3331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7301" y="550307"/>
            <a:ext cx="11155918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Real-World Example: Smart Home Automation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67301" y="1625798"/>
            <a:ext cx="360068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Intelligent Presence Detection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267301" y="2115860"/>
            <a:ext cx="5814536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a smart home, motion sensors strategically placed in rooms detect human presence. These sensors provide immediate data on occupancy.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67301" y="3224689"/>
            <a:ext cx="257317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Automated Response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67301" y="3714750"/>
            <a:ext cx="5814536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no motion is detected for a predetermined period, the central automation system sends commands. Actuators then turn off lights, adjust the HVAC system, or close smart blinds.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7301" y="4823579"/>
            <a:ext cx="243030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Enhanced Efficiency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67301" y="5313640"/>
            <a:ext cx="5814536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seamless integration leads to significant energy savings and enhanced comfort, all without any manual intervention from the occupants.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C9AAC1-83AD-7E29-92E1-C5578A639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906214" y="2196790"/>
            <a:ext cx="5560741" cy="40344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130" y="530066"/>
            <a:ext cx="10810518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Sensing and Actuation Are Critical in IoT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557254" y="1611630"/>
            <a:ext cx="260746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Intelligent Interaction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557254" y="2104311"/>
            <a:ext cx="5847398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They are the fundamental components enabling IoT devices to perceive and interact intelligently with the physical world, bridging the gap between digital and physical.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57254" y="3219569"/>
            <a:ext cx="240387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Driving Automation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7254" y="3712250"/>
            <a:ext cx="5847398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technologies are essential for driving automation across various sectors, from smart agriculture and manufacturing to advanced healthcare systems.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57254" y="4827508"/>
            <a:ext cx="2532221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Improving Outcomes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557254" y="5320189"/>
            <a:ext cx="5847398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facilitating responsive control, they significantly enhance efficiency, bolster safety measures, and elevate user experience in countless applications.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4097E4-D834-58D9-FD6F-BE881032E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426784" y="2347912"/>
            <a:ext cx="400050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65627" y="1126808"/>
            <a:ext cx="8185547" cy="85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Future of IoT Automation: Smarter, Faster, More Connected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068258" y="2187773"/>
            <a:ext cx="15240" cy="4914900"/>
          </a:xfrm>
          <a:prstGeom prst="roundRect">
            <a:avLst>
              <a:gd name="adj" fmla="val 377376"/>
            </a:avLst>
          </a:prstGeom>
          <a:solidFill>
            <a:srgbClr val="B8C3DF"/>
          </a:solidFill>
          <a:ln/>
        </p:spPr>
      </p:sp>
      <p:sp>
        <p:nvSpPr>
          <p:cNvPr id="5" name="Shape 2"/>
          <p:cNvSpPr/>
          <p:nvPr/>
        </p:nvSpPr>
        <p:spPr>
          <a:xfrm>
            <a:off x="6053018" y="2691765"/>
            <a:ext cx="410766" cy="15240"/>
          </a:xfrm>
          <a:prstGeom prst="roundRect">
            <a:avLst>
              <a:gd name="adj" fmla="val 377376"/>
            </a:avLst>
          </a:prstGeom>
          <a:solidFill>
            <a:srgbClr val="B8C3DF"/>
          </a:solidFill>
          <a:ln/>
        </p:spPr>
      </p:sp>
      <p:sp>
        <p:nvSpPr>
          <p:cNvPr id="6" name="Shape 3"/>
          <p:cNvSpPr/>
          <p:nvPr/>
        </p:nvSpPr>
        <p:spPr>
          <a:xfrm>
            <a:off x="6016943" y="2648069"/>
            <a:ext cx="102632" cy="102632"/>
          </a:xfrm>
          <a:prstGeom prst="roundRect">
            <a:avLst>
              <a:gd name="adj" fmla="val 445475"/>
            </a:avLst>
          </a:prstGeom>
          <a:solidFill>
            <a:srgbClr val="1B54DA"/>
          </a:solidFill>
          <a:ln/>
        </p:spPr>
      </p:sp>
      <p:sp>
        <p:nvSpPr>
          <p:cNvPr id="7" name="Shape 4"/>
          <p:cNvSpPr/>
          <p:nvPr/>
        </p:nvSpPr>
        <p:spPr>
          <a:xfrm>
            <a:off x="6479024" y="2187773"/>
            <a:ext cx="7672149" cy="1023342"/>
          </a:xfrm>
          <a:prstGeom prst="roundRect">
            <a:avLst>
              <a:gd name="adj" fmla="val 562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3566" y="2332315"/>
            <a:ext cx="1998702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Components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3566" y="2628424"/>
            <a:ext cx="73830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advances in sensor miniaturization and actuator precision are leading to more compact, versatile, and reliable IoT devices.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53018" y="3988951"/>
            <a:ext cx="410766" cy="15240"/>
          </a:xfrm>
          <a:prstGeom prst="roundRect">
            <a:avLst>
              <a:gd name="adj" fmla="val 377376"/>
            </a:avLst>
          </a:prstGeom>
          <a:solidFill>
            <a:srgbClr val="B8C3DF"/>
          </a:solidFill>
          <a:ln/>
        </p:spPr>
      </p:sp>
      <p:sp>
        <p:nvSpPr>
          <p:cNvPr id="11" name="Shape 8"/>
          <p:cNvSpPr/>
          <p:nvPr/>
        </p:nvSpPr>
        <p:spPr>
          <a:xfrm>
            <a:off x="6016943" y="3945255"/>
            <a:ext cx="102632" cy="102632"/>
          </a:xfrm>
          <a:prstGeom prst="roundRect">
            <a:avLst>
              <a:gd name="adj" fmla="val 445475"/>
            </a:avLst>
          </a:prstGeom>
          <a:solidFill>
            <a:srgbClr val="1B54DA"/>
          </a:solidFill>
          <a:ln/>
        </p:spPr>
      </p:sp>
      <p:sp>
        <p:nvSpPr>
          <p:cNvPr id="12" name="Shape 9"/>
          <p:cNvSpPr/>
          <p:nvPr/>
        </p:nvSpPr>
        <p:spPr>
          <a:xfrm>
            <a:off x="6479024" y="3484959"/>
            <a:ext cx="7672149" cy="1023342"/>
          </a:xfrm>
          <a:prstGeom prst="roundRect">
            <a:avLst>
              <a:gd name="adj" fmla="val 562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3566" y="3629501"/>
            <a:ext cx="1848564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AI-Powered Decisions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23566" y="3925610"/>
            <a:ext cx="73830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integration of artificial intelligence and machine learning is profoundly enhancing sensor-actuator coordination, enabling more autonomous and predictive systems.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53018" y="5286137"/>
            <a:ext cx="410766" cy="15240"/>
          </a:xfrm>
          <a:prstGeom prst="roundRect">
            <a:avLst>
              <a:gd name="adj" fmla="val 377376"/>
            </a:avLst>
          </a:prstGeom>
          <a:solidFill>
            <a:srgbClr val="B8C3DF"/>
          </a:solidFill>
          <a:ln/>
        </p:spPr>
      </p:sp>
      <p:sp>
        <p:nvSpPr>
          <p:cNvPr id="16" name="Shape 13"/>
          <p:cNvSpPr/>
          <p:nvPr/>
        </p:nvSpPr>
        <p:spPr>
          <a:xfrm>
            <a:off x="6016943" y="5242441"/>
            <a:ext cx="102632" cy="102632"/>
          </a:xfrm>
          <a:prstGeom prst="roundRect">
            <a:avLst>
              <a:gd name="adj" fmla="val 445475"/>
            </a:avLst>
          </a:prstGeom>
          <a:solidFill>
            <a:srgbClr val="1B54DA"/>
          </a:solidFill>
          <a:ln/>
        </p:spPr>
      </p:sp>
      <p:sp>
        <p:nvSpPr>
          <p:cNvPr id="17" name="Shape 14"/>
          <p:cNvSpPr/>
          <p:nvPr/>
        </p:nvSpPr>
        <p:spPr>
          <a:xfrm>
            <a:off x="6479024" y="4782145"/>
            <a:ext cx="7672149" cy="1023342"/>
          </a:xfrm>
          <a:prstGeom prst="roundRect">
            <a:avLst>
              <a:gd name="adj" fmla="val 562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3566" y="4926687"/>
            <a:ext cx="1790343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Seamless Integration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23566" y="5222796"/>
            <a:ext cx="73830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Greater interoperability and seamless integration will enable fully autonomous systems, transforming daily life and various industrial sectors.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53018" y="6583323"/>
            <a:ext cx="410766" cy="15240"/>
          </a:xfrm>
          <a:prstGeom prst="roundRect">
            <a:avLst>
              <a:gd name="adj" fmla="val 377376"/>
            </a:avLst>
          </a:prstGeom>
          <a:solidFill>
            <a:srgbClr val="B8C3DF"/>
          </a:solidFill>
          <a:ln/>
        </p:spPr>
      </p:sp>
      <p:sp>
        <p:nvSpPr>
          <p:cNvPr id="21" name="Shape 18"/>
          <p:cNvSpPr/>
          <p:nvPr/>
        </p:nvSpPr>
        <p:spPr>
          <a:xfrm>
            <a:off x="6016943" y="6539627"/>
            <a:ext cx="102632" cy="102632"/>
          </a:xfrm>
          <a:prstGeom prst="roundRect">
            <a:avLst>
              <a:gd name="adj" fmla="val 445475"/>
            </a:avLst>
          </a:prstGeom>
          <a:solidFill>
            <a:srgbClr val="1B54DA"/>
          </a:solidFill>
          <a:ln/>
        </p:spPr>
      </p:sp>
      <p:sp>
        <p:nvSpPr>
          <p:cNvPr id="22" name="Shape 19"/>
          <p:cNvSpPr/>
          <p:nvPr/>
        </p:nvSpPr>
        <p:spPr>
          <a:xfrm>
            <a:off x="6479024" y="6079331"/>
            <a:ext cx="7672149" cy="1023342"/>
          </a:xfrm>
          <a:prstGeom prst="roundRect">
            <a:avLst>
              <a:gd name="adj" fmla="val 562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3566" y="6223873"/>
            <a:ext cx="1711643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IoT's Backbone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23566" y="6519982"/>
            <a:ext cx="73830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Together, sophisticated sensing and precise actuation form the indispensable backbone of the Internet of Things, powering its evolution and impact.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55E505-55DE-C786-D05E-CAAFE6809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7602" y="2126220"/>
            <a:ext cx="4447143" cy="413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568</Words>
  <Application>Microsoft Office PowerPoint</Application>
  <PresentationFormat>Custom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Alexandria</vt:lpstr>
      <vt:lpstr>Nobile</vt:lpstr>
      <vt:lpstr>Calibri Light</vt:lpstr>
      <vt:lpstr>Calibri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mudavath srikanth</cp:lastModifiedBy>
  <cp:revision>2</cp:revision>
  <dcterms:created xsi:type="dcterms:W3CDTF">2026-01-09T15:04:15Z</dcterms:created>
  <dcterms:modified xsi:type="dcterms:W3CDTF">2026-01-09T15:16:02Z</dcterms:modified>
</cp:coreProperties>
</file>